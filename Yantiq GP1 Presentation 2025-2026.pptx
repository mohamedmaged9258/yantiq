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68" r:id="rId5"/>
    <p:sldId id="259" r:id="rId6"/>
    <p:sldId id="260" r:id="rId7"/>
    <p:sldId id="261" r:id="rId8"/>
    <p:sldId id="269" r:id="rId9"/>
    <p:sldId id="270" r:id="rId10"/>
    <p:sldId id="262" r:id="rId11"/>
    <p:sldId id="271" r:id="rId12"/>
    <p:sldId id="272" r:id="rId13"/>
    <p:sldId id="263" r:id="rId14"/>
    <p:sldId id="264" r:id="rId15"/>
    <p:sldId id="265" r:id="rId16"/>
    <p:sldId id="266" r:id="rId17"/>
    <p:sldId id="273" r:id="rId18"/>
    <p:sldId id="267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73F624-F066-E0DD-771E-E9E34C0C4504}" v="2" dt="2026-06-11T20:25:31.839"/>
    <p1510:client id="{F70A8F9C-469C-ADED-49A5-6EF00BF7D18F}" v="842" dt="2026-06-11T20:55:07.82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0D617F-D4ED-4D37-ADF5-E066F6D869F8}" type="datetimeFigureOut">
              <a:t>6/11/2026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F6B9E6-35D9-49CE-A7DE-0B1864AE91A2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71049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0272D"/>
                </a:solidFill>
              </a:rPr>
              <a:t>AIU.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005840" y="1645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6B"/>
                </a:solidFill>
              </a:rPr>
              <a:t>ALAMEIN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05840" y="402336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B2A6B"/>
                </a:solidFill>
              </a:rPr>
              <a:t>INTERNATIONAL UNIVERSITY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0272D"/>
                </a:solidFill>
              </a:rPr>
              <a:t>جامعة العلمين الدولية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206541" y="-3609"/>
            <a:ext cx="4572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3000" b="1" dirty="0">
                <a:solidFill>
                  <a:srgbClr val="DDDDDD">
                    <a:alpha val="40000"/>
                  </a:srgbClr>
                </a:solidFill>
              </a:rPr>
              <a:t>AIU.</a:t>
            </a:r>
            <a:endParaRPr lang="en-US" sz="13000" dirty="0"/>
          </a:p>
        </p:txBody>
      </p:sp>
      <p:sp>
        <p:nvSpPr>
          <p:cNvPr id="9" name="Text 7"/>
          <p:cNvSpPr/>
          <p:nvPr/>
        </p:nvSpPr>
        <p:spPr>
          <a:xfrm>
            <a:off x="411480" y="123444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Yantiq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365760" y="2103120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AI-Based Early Arabic Reading Tutor</a:t>
            </a:r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Pronunciation Correction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65760" y="294436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</a:rPr>
              <a:t>CSE Graduation Project  |  GP1 Presentation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337560"/>
            <a:ext cx="5303520" cy="1097280"/>
          </a:xfrm>
          <a:prstGeom prst="rect">
            <a:avLst/>
          </a:prstGeom>
          <a:solidFill>
            <a:srgbClr val="1B2A6B">
              <a:alpha val="92000"/>
            </a:srgbClr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401568"/>
            <a:ext cx="5029200" cy="960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r>
              <a:rPr lang="en-US" sz="1050" b="1" dirty="0">
                <a:solidFill>
                  <a:srgbClr val="E8B84B"/>
                </a:solidFill>
              </a:rPr>
              <a:t>Team:  </a:t>
            </a:r>
            <a:r>
              <a:rPr lang="en-US" sz="1050" dirty="0">
                <a:solidFill>
                  <a:srgbClr val="FFFFFF"/>
                </a:solidFill>
              </a:rPr>
              <a:t>Adam Rany • Mohamed Maged • Mohamed Ahmed • Ahmed Khaled • Abdelrhman Ahmed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E8B84B"/>
                </a:solidFill>
              </a:rPr>
              <a:t>Supervisor: 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Dr. Laila Shoukry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E8B84B"/>
                </a:solidFill>
              </a:rPr>
              <a:t>Date: 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June 2026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46720" y="3474720"/>
            <a:ext cx="2011680" cy="2011680"/>
          </a:xfrm>
          <a:prstGeom prst="ellipse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0" y="3840480"/>
            <a:ext cx="1371600" cy="1371600"/>
          </a:xfrm>
          <a:prstGeom prst="ellipse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8B1A2B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477316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Shape Your Own Identity, The Future is Yours.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858000" y="477316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</a:rPr>
              <a:t>www.aiu.edu.eg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1097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272D"/>
                </a:solidFill>
              </a:rPr>
              <a:t>AIU.</a:t>
            </a:r>
            <a:r>
              <a:rPr lang="en-US" sz="1000" b="1" dirty="0">
                <a:solidFill>
                  <a:srgbClr val="1B2A6B"/>
                </a:solidFill>
              </a:rPr>
              <a:t>  ALAMEIN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228600" y="347472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1B2A6B"/>
                </a:solidFill>
              </a:rPr>
              <a:t>INTERNATIONAL UNIVERSITY</a:t>
            </a:r>
            <a:endParaRPr lang="en-US" sz="650" dirty="0"/>
          </a:p>
        </p:txBody>
      </p:sp>
      <p:sp>
        <p:nvSpPr>
          <p:cNvPr id="4" name="Shape 2"/>
          <p:cNvSpPr/>
          <p:nvPr/>
        </p:nvSpPr>
        <p:spPr>
          <a:xfrm>
            <a:off x="228600" y="521208"/>
            <a:ext cx="2286000" cy="0"/>
          </a:xfrm>
          <a:prstGeom prst="line">
            <a:avLst/>
          </a:prstGeom>
          <a:noFill/>
          <a:ln w="15240">
            <a:solidFill>
              <a:srgbClr val="1B2A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95728" y="457200"/>
            <a:ext cx="118872" cy="118872"/>
          </a:xfrm>
          <a:prstGeom prst="ellipse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651760" y="9144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Outline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8B1A2B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77316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Shape Your Own Identity, The Future is Yours.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0" y="477316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</a:rPr>
              <a:t>www.aiu.edu.eg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321040" y="4251960"/>
            <a:ext cx="1280160" cy="1280160"/>
          </a:xfrm>
          <a:prstGeom prst="ellipse">
            <a:avLst/>
          </a:prstGeom>
          <a:solidFill>
            <a:srgbClr val="C0272D">
              <a:alpha val="85000"/>
            </a:srgbClr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41080" y="4526280"/>
            <a:ext cx="914400" cy="914400"/>
          </a:xfrm>
          <a:prstGeom prst="ellipse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868680"/>
            <a:ext cx="201168" cy="201168"/>
          </a:xfrm>
          <a:prstGeom prst="ellipse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4944" y="80467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6B"/>
                </a:solidFill>
              </a:rPr>
              <a:t>Introduction &amp; Motivation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11480" y="1545336"/>
            <a:ext cx="201168" cy="201168"/>
          </a:xfrm>
          <a:prstGeom prst="ellipse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4944" y="14813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6B"/>
                </a:solidFill>
              </a:rPr>
              <a:t>Problem Statement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11480" y="2221992"/>
            <a:ext cx="201168" cy="201168"/>
          </a:xfrm>
          <a:prstGeom prst="ellipse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" y="215798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6B"/>
                </a:solidFill>
              </a:rPr>
              <a:t>Literature Review &amp; Available Solutions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11480" y="2898648"/>
            <a:ext cx="201168" cy="201168"/>
          </a:xfrm>
          <a:prstGeom prst="ellipse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944" y="28346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6B"/>
                </a:solidFill>
              </a:rPr>
              <a:t>Proposed Solution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11480" y="3575304"/>
            <a:ext cx="201168" cy="201168"/>
          </a:xfrm>
          <a:prstGeom prst="ellipse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944" y="351129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6B"/>
                </a:solidFill>
              </a:rPr>
              <a:t>User Analysis &amp; Requirements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54880" y="868680"/>
            <a:ext cx="201168" cy="201168"/>
          </a:xfrm>
          <a:prstGeom prst="ellipse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47488" y="80467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6B"/>
                </a:solidFill>
              </a:rPr>
              <a:t>System Architecture &amp; Design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54880" y="1545336"/>
            <a:ext cx="201168" cy="201168"/>
          </a:xfrm>
          <a:prstGeom prst="ellipse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47488" y="148132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6B"/>
                </a:solidFill>
              </a:rPr>
              <a:t>AI Model &amp; Pronunciation Evaluation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754880" y="2221992"/>
            <a:ext cx="201168" cy="201168"/>
          </a:xfrm>
          <a:prstGeom prst="ellipse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47488" y="215798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6B"/>
                </a:solidFill>
              </a:rPr>
              <a:t>Prototype &amp; Implementation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754880" y="2898648"/>
            <a:ext cx="201168" cy="201168"/>
          </a:xfrm>
          <a:prstGeom prst="ellipse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47488" y="283464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6B"/>
                </a:solidFill>
              </a:rPr>
              <a:t>Evaluation Plan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754880" y="3575304"/>
            <a:ext cx="201168" cy="201168"/>
          </a:xfrm>
          <a:prstGeom prst="ellipse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47488" y="351129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6B"/>
                </a:solidFill>
              </a:rPr>
              <a:t>Future Work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1097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272D"/>
                </a:solidFill>
              </a:rPr>
              <a:t>AIU.</a:t>
            </a:r>
            <a:r>
              <a:rPr lang="en-US" sz="1000" b="1" dirty="0">
                <a:solidFill>
                  <a:srgbClr val="1B2A6B"/>
                </a:solidFill>
              </a:rPr>
              <a:t>  ALAMEIN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228600" y="347472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1B2A6B"/>
                </a:solidFill>
              </a:rPr>
              <a:t>INTERNATIONAL UNIVERSITY</a:t>
            </a:r>
            <a:endParaRPr lang="en-US" sz="650" dirty="0"/>
          </a:p>
        </p:txBody>
      </p:sp>
      <p:sp>
        <p:nvSpPr>
          <p:cNvPr id="4" name="Shape 2"/>
          <p:cNvSpPr/>
          <p:nvPr/>
        </p:nvSpPr>
        <p:spPr>
          <a:xfrm>
            <a:off x="228600" y="521208"/>
            <a:ext cx="2286000" cy="0"/>
          </a:xfrm>
          <a:prstGeom prst="line">
            <a:avLst/>
          </a:prstGeom>
          <a:noFill/>
          <a:ln w="15240">
            <a:solidFill>
              <a:srgbClr val="1B2A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95728" y="457200"/>
            <a:ext cx="118872" cy="118872"/>
          </a:xfrm>
          <a:prstGeom prst="ellipse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651760" y="9144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&amp; Motivation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8B1A2B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77316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Shape Your Own Identity, The Future is Yours.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0" y="477316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</a:rPr>
              <a:t>www.aiu.edu.eg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321040" y="4251960"/>
            <a:ext cx="1280160" cy="1280160"/>
          </a:xfrm>
          <a:prstGeom prst="ellipse">
            <a:avLst/>
          </a:prstGeom>
          <a:solidFill>
            <a:srgbClr val="C0272D">
              <a:alpha val="85000"/>
            </a:srgbClr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41080" y="4526280"/>
            <a:ext cx="914400" cy="914400"/>
          </a:xfrm>
          <a:prstGeom prst="ellipse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731520"/>
            <a:ext cx="2148840" cy="1417320"/>
          </a:xfrm>
          <a:prstGeom prst="roundRect">
            <a:avLst>
              <a:gd name="adj" fmla="val 5161"/>
            </a:avLst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38912" y="8229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B84B"/>
                </a:solidFill>
                <a:latin typeface="Cambria"/>
                <a:ea typeface="Cambria"/>
                <a:cs typeface="Cambria" pitchFamily="34" charset="-120"/>
              </a:rPr>
              <a:t>4–7</a:t>
            </a:r>
            <a:endParaRPr lang="en-US" sz="28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38912" y="12984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Target Age Group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8912" y="1554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CDDFF"/>
                </a:solidFill>
              </a:rPr>
              <a:t>Critical period for Arabic literacy development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743200" y="731520"/>
            <a:ext cx="21488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1B2A6B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816352" y="8229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027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55.9%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2816352" y="12984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6B"/>
                </a:solidFill>
              </a:rPr>
              <a:t>Faced difficulties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816352" y="1554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</a:rPr>
              <a:t>Respondents had trouble teaching children correct Arabic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65760" y="2331720"/>
            <a:ext cx="2148840" cy="1417320"/>
          </a:xfrm>
          <a:prstGeom prst="roundRect">
            <a:avLst>
              <a:gd name="adj" fmla="val 5161"/>
            </a:avLst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38912" y="24231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97.1%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438912" y="28986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Excited about app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38912" y="31546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CDDFF"/>
                </a:solidFill>
              </a:rPr>
              <a:t>Survey respondents enthusiastic about Yantiq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743200" y="2331720"/>
            <a:ext cx="21488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1B2A6B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816352" y="24231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027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89.7%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2816352" y="28986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6B"/>
                </a:solidFill>
              </a:rPr>
              <a:t>Start at age 3–6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816352" y="31546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</a:rPr>
              <a:t>Children begin Arabic learning in early years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166360" y="7132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Yantiq?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166360" y="1207008"/>
            <a:ext cx="128016" cy="128016"/>
          </a:xfrm>
          <a:prstGeom prst="ellipse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76672" y="1133856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Arabic pronunciation requires accurate, real-time feedback — not just passive listening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166360" y="1783080"/>
            <a:ext cx="128016" cy="128016"/>
          </a:xfrm>
          <a:prstGeom prst="ellipse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76672" y="1709928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Children in non-Arabic environments lack consistent exposure to correct speech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166360" y="2359152"/>
            <a:ext cx="128016" cy="128016"/>
          </a:xfrm>
          <a:prstGeom prst="ellipse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76672" y="2286000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Mistakes repeated without correction become hard to fix later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166360" y="2935224"/>
            <a:ext cx="128016" cy="128016"/>
          </a:xfrm>
          <a:prstGeom prst="ellipse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76672" y="2862072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Survey: 80.9% want voice-interactive stories; 75% want reward points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166360" y="3511296"/>
            <a:ext cx="128016" cy="128016"/>
          </a:xfrm>
          <a:prstGeom prst="ellipse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76672" y="3438144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64.7% of respondents want a parent monitoring interface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ext 0">
            <a:extLst>
              <a:ext uri="{FF2B5EF4-FFF2-40B4-BE49-F238E27FC236}">
                <a16:creationId xmlns:a16="http://schemas.microsoft.com/office/drawing/2014/main" id="{E287FF24-8B87-C4F7-D7CC-9E90272B0806}"/>
              </a:ext>
            </a:extLst>
          </p:cNvPr>
          <p:cNvSpPr/>
          <p:nvPr/>
        </p:nvSpPr>
        <p:spPr>
          <a:xfrm>
            <a:off x="228600" y="1097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272D"/>
                </a:solidFill>
              </a:rPr>
              <a:t>AIU.</a:t>
            </a:r>
            <a:r>
              <a:rPr lang="en-US" sz="1000" b="1" dirty="0">
                <a:solidFill>
                  <a:srgbClr val="1B2A6B"/>
                </a:solidFill>
              </a:rPr>
              <a:t>  ALAMEIN</a:t>
            </a:r>
            <a:endParaRPr lang="en-US" sz="1300" dirty="0"/>
          </a:p>
        </p:txBody>
      </p:sp>
      <p:sp>
        <p:nvSpPr>
          <p:cNvPr id="113" name="Text 1">
            <a:extLst>
              <a:ext uri="{FF2B5EF4-FFF2-40B4-BE49-F238E27FC236}">
                <a16:creationId xmlns:a16="http://schemas.microsoft.com/office/drawing/2014/main" id="{C55CBDE0-EC84-43D2-686C-F3CC83F1CF58}"/>
              </a:ext>
            </a:extLst>
          </p:cNvPr>
          <p:cNvSpPr/>
          <p:nvPr/>
        </p:nvSpPr>
        <p:spPr>
          <a:xfrm>
            <a:off x="228600" y="347472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1B2A6B"/>
                </a:solidFill>
              </a:rPr>
              <a:t>INTERNATIONAL UNIVERSITY</a:t>
            </a:r>
            <a:endParaRPr lang="en-US" sz="650" dirty="0"/>
          </a:p>
        </p:txBody>
      </p:sp>
      <p:sp>
        <p:nvSpPr>
          <p:cNvPr id="115" name="Shape 2">
            <a:extLst>
              <a:ext uri="{FF2B5EF4-FFF2-40B4-BE49-F238E27FC236}">
                <a16:creationId xmlns:a16="http://schemas.microsoft.com/office/drawing/2014/main" id="{CF4BEACD-4D50-7584-C303-6FF009680D3F}"/>
              </a:ext>
            </a:extLst>
          </p:cNvPr>
          <p:cNvSpPr/>
          <p:nvPr/>
        </p:nvSpPr>
        <p:spPr>
          <a:xfrm>
            <a:off x="228600" y="521208"/>
            <a:ext cx="2286000" cy="0"/>
          </a:xfrm>
          <a:prstGeom prst="line">
            <a:avLst/>
          </a:prstGeom>
          <a:noFill/>
          <a:ln w="15240">
            <a:solidFill>
              <a:srgbClr val="1B2A6B"/>
            </a:solidFill>
            <a:prstDash val="solid"/>
          </a:ln>
        </p:spPr>
      </p:sp>
      <p:sp>
        <p:nvSpPr>
          <p:cNvPr id="117" name="Shape 3">
            <a:extLst>
              <a:ext uri="{FF2B5EF4-FFF2-40B4-BE49-F238E27FC236}">
                <a16:creationId xmlns:a16="http://schemas.microsoft.com/office/drawing/2014/main" id="{C63ADABE-DD2E-8457-DB8A-4A2C40678157}"/>
              </a:ext>
            </a:extLst>
          </p:cNvPr>
          <p:cNvSpPr/>
          <p:nvPr/>
        </p:nvSpPr>
        <p:spPr>
          <a:xfrm>
            <a:off x="2395728" y="457200"/>
            <a:ext cx="118872" cy="118872"/>
          </a:xfrm>
          <a:prstGeom prst="ellipse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119" name="Text 4">
            <a:extLst>
              <a:ext uri="{FF2B5EF4-FFF2-40B4-BE49-F238E27FC236}">
                <a16:creationId xmlns:a16="http://schemas.microsoft.com/office/drawing/2014/main" id="{DBBABF91-1A96-27C7-F86F-B4B4076C6034}"/>
              </a:ext>
            </a:extLst>
          </p:cNvPr>
          <p:cNvSpPr/>
          <p:nvPr/>
        </p:nvSpPr>
        <p:spPr>
          <a:xfrm>
            <a:off x="1463040" y="14478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00" b="1">
                <a:solidFill>
                  <a:srgbClr val="1B2A6B"/>
                </a:solidFill>
                <a:latin typeface="Cambria"/>
                <a:ea typeface="Cambria"/>
              </a:rPr>
              <a:t>Background</a:t>
            </a:r>
            <a:endParaRPr lang="en-US"/>
          </a:p>
        </p:txBody>
      </p:sp>
      <p:sp>
        <p:nvSpPr>
          <p:cNvPr id="121" name="Shape 5">
            <a:extLst>
              <a:ext uri="{FF2B5EF4-FFF2-40B4-BE49-F238E27FC236}">
                <a16:creationId xmlns:a16="http://schemas.microsoft.com/office/drawing/2014/main" id="{BB47B930-34EC-DFC1-D7B7-7AA16F5FC739}"/>
              </a:ext>
            </a:extLst>
          </p:cNvPr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8B1A2B"/>
          </a:solidFill>
          <a:ln/>
        </p:spPr>
      </p:sp>
      <p:sp>
        <p:nvSpPr>
          <p:cNvPr id="123" name="Text 6">
            <a:extLst>
              <a:ext uri="{FF2B5EF4-FFF2-40B4-BE49-F238E27FC236}">
                <a16:creationId xmlns:a16="http://schemas.microsoft.com/office/drawing/2014/main" id="{52D05431-56A6-E16E-DD53-B7522F3ABA45}"/>
              </a:ext>
            </a:extLst>
          </p:cNvPr>
          <p:cNvSpPr/>
          <p:nvPr/>
        </p:nvSpPr>
        <p:spPr>
          <a:xfrm>
            <a:off x="274320" y="477316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Shape Your Own Identity, The Future is Yours.</a:t>
            </a:r>
            <a:endParaRPr lang="en-US" sz="900" dirty="0"/>
          </a:p>
        </p:txBody>
      </p:sp>
      <p:sp>
        <p:nvSpPr>
          <p:cNvPr id="125" name="Text 7">
            <a:extLst>
              <a:ext uri="{FF2B5EF4-FFF2-40B4-BE49-F238E27FC236}">
                <a16:creationId xmlns:a16="http://schemas.microsoft.com/office/drawing/2014/main" id="{BA234BE4-63C5-AA8C-03A5-607DC78CD105}"/>
              </a:ext>
            </a:extLst>
          </p:cNvPr>
          <p:cNvSpPr/>
          <p:nvPr/>
        </p:nvSpPr>
        <p:spPr>
          <a:xfrm>
            <a:off x="6858000" y="477316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</a:rPr>
              <a:t>www.aiu.edu.eg</a:t>
            </a:r>
            <a:endParaRPr lang="en-US" sz="900" dirty="0"/>
          </a:p>
        </p:txBody>
      </p:sp>
      <p:sp>
        <p:nvSpPr>
          <p:cNvPr id="127" name="Shape 8">
            <a:extLst>
              <a:ext uri="{FF2B5EF4-FFF2-40B4-BE49-F238E27FC236}">
                <a16:creationId xmlns:a16="http://schemas.microsoft.com/office/drawing/2014/main" id="{7884A96F-8E85-A900-03E5-7F5789D6A9A3}"/>
              </a:ext>
            </a:extLst>
          </p:cNvPr>
          <p:cNvSpPr/>
          <p:nvPr/>
        </p:nvSpPr>
        <p:spPr>
          <a:xfrm>
            <a:off x="8321040" y="4251960"/>
            <a:ext cx="1280160" cy="1280160"/>
          </a:xfrm>
          <a:prstGeom prst="ellipse">
            <a:avLst/>
          </a:prstGeom>
          <a:solidFill>
            <a:srgbClr val="C0272D">
              <a:alpha val="85000"/>
            </a:srgbClr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129" name="Shape 9">
            <a:extLst>
              <a:ext uri="{FF2B5EF4-FFF2-40B4-BE49-F238E27FC236}">
                <a16:creationId xmlns:a16="http://schemas.microsoft.com/office/drawing/2014/main" id="{E8381D92-F8E7-8E18-9859-A14D5A6FC809}"/>
              </a:ext>
            </a:extLst>
          </p:cNvPr>
          <p:cNvSpPr/>
          <p:nvPr/>
        </p:nvSpPr>
        <p:spPr>
          <a:xfrm>
            <a:off x="8641080" y="4526280"/>
            <a:ext cx="914400" cy="914400"/>
          </a:xfrm>
          <a:prstGeom prst="ellipse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8BB765F3-8DD6-345D-C75A-E424F9B17FDB}"/>
              </a:ext>
            </a:extLst>
          </p:cNvPr>
          <p:cNvSpPr txBox="1"/>
          <p:nvPr/>
        </p:nvSpPr>
        <p:spPr>
          <a:xfrm>
            <a:off x="220980" y="819150"/>
            <a:ext cx="7833360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The Gap:</a:t>
            </a:r>
            <a:r>
              <a:rPr lang="en-US" dirty="0">
                <a:ea typeface="+mn-lt"/>
                <a:cs typeface="+mn-lt"/>
              </a:rPr>
              <a:t> Preschool children, particularly those in non-Arabic environments, lack access to tools that help them develop accurate Arabic pronunciation.</a:t>
            </a:r>
          </a:p>
          <a:p>
            <a:pPr marL="285750" indent="-285750">
              <a:buFont typeface="Arial"/>
              <a:buChar char="•"/>
            </a:pPr>
            <a:endParaRPr lang="en-US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Current Limitations:</a:t>
            </a:r>
            <a:r>
              <a:rPr lang="en-US" dirty="0">
                <a:ea typeface="+mn-lt"/>
                <a:cs typeface="+mn-lt"/>
              </a:rPr>
              <a:t> Most existing early literacy apps rely on static content and fail to provide the real-time pronunciation feedback or structured learning progression necessary for effective improvement.</a:t>
            </a:r>
          </a:p>
          <a:p>
            <a:pPr marL="285750" indent="-285750">
              <a:buFont typeface="Arial"/>
              <a:buChar char="•"/>
            </a:pPr>
            <a:endParaRPr lang="en-US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The Need:</a:t>
            </a:r>
            <a:r>
              <a:rPr lang="en-US" dirty="0">
                <a:ea typeface="+mn-lt"/>
                <a:cs typeface="+mn-lt"/>
              </a:rPr>
              <a:t> There is a critical demand for an interactive, AI-powered platform that actively corrects pronunciation, integrates speaking with reading, and enables guardians to monitor learning progress.</a:t>
            </a:r>
          </a:p>
          <a:p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258474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1097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272D"/>
                </a:solidFill>
              </a:rPr>
              <a:t>AIU.</a:t>
            </a:r>
            <a:r>
              <a:rPr lang="en-US" sz="1000" b="1" dirty="0">
                <a:solidFill>
                  <a:srgbClr val="1B2A6B"/>
                </a:solidFill>
              </a:rPr>
              <a:t>  ALAMEIN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228600" y="347472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1B2A6B"/>
                </a:solidFill>
              </a:rPr>
              <a:t>INTERNATIONAL UNIVERSITY</a:t>
            </a:r>
            <a:endParaRPr lang="en-US" sz="650" dirty="0"/>
          </a:p>
        </p:txBody>
      </p:sp>
      <p:sp>
        <p:nvSpPr>
          <p:cNvPr id="4" name="Shape 2"/>
          <p:cNvSpPr/>
          <p:nvPr/>
        </p:nvSpPr>
        <p:spPr>
          <a:xfrm>
            <a:off x="228600" y="521208"/>
            <a:ext cx="2286000" cy="0"/>
          </a:xfrm>
          <a:prstGeom prst="line">
            <a:avLst/>
          </a:prstGeom>
          <a:noFill/>
          <a:ln w="15240">
            <a:solidFill>
              <a:srgbClr val="1B2A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95728" y="457200"/>
            <a:ext cx="118872" cy="118872"/>
          </a:xfrm>
          <a:prstGeom prst="ellipse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651760" y="9144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8B1A2B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77316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Shape Your Own Identity, The Future is Yours.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0" y="477316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</a:rPr>
              <a:t>www.aiu.edu.eg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321040" y="4251960"/>
            <a:ext cx="1280160" cy="1280160"/>
          </a:xfrm>
          <a:prstGeom prst="ellipse">
            <a:avLst/>
          </a:prstGeom>
          <a:solidFill>
            <a:srgbClr val="C0272D">
              <a:alpha val="85000"/>
            </a:srgbClr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41080" y="4526280"/>
            <a:ext cx="914400" cy="914400"/>
          </a:xfrm>
          <a:prstGeom prst="ellipse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749808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11480" y="859536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🔇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11480" y="125272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B84B"/>
                </a:solidFill>
              </a:rPr>
              <a:t>No Real-Time Feedback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1536192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DDDDD"/>
                </a:solidFill>
              </a:rPr>
              <a:t>Existing apps do not evaluate spoken input; children repeat mistakes without correction.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136392" y="749808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27832" y="859536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📚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227832" y="125272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B84B"/>
                </a:solidFill>
              </a:rPr>
              <a:t>Passive Learning Only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27832" y="1536192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DDDDD"/>
                </a:solidFill>
              </a:rPr>
              <a:t>Most tools rely on static content, videos, and repetition — no active speaking practice.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952744" y="749808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044184" y="859536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🌍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044184" y="125272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B84B"/>
                </a:solidFill>
              </a:rPr>
              <a:t>Limited Exposure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044184" y="1536192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DDDDD"/>
                </a:solidFill>
              </a:rPr>
              <a:t>Children in non-Arabic environments lack sufficient guided Arabic pronunciation practice.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" y="2487168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11480" y="2596896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411480" y="299008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6B"/>
                </a:solidFill>
              </a:rPr>
              <a:t>No Progress Tracking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11480" y="3273552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</a:rPr>
              <a:t>Parents and teachers cannot monitor or support the child's pronunciation learning journey.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136392" y="2487168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227832" y="2596896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🔗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3227832" y="299008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6B"/>
                </a:solidFill>
              </a:rPr>
              <a:t>Disconnected Skills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227832" y="3273552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</a:rPr>
              <a:t>Listening, speaking, reading, and rewards are rarely integrated in one unified experience.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952744" y="2487168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044184" y="2596896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044184" y="299008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6B"/>
                </a:solidFill>
              </a:rPr>
              <a:t>No Adaptive Paths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044184" y="3273552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</a:rPr>
              <a:t>Tools don't adapt to each child's level or provide fallback tasks when they struggle.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1097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272D"/>
                </a:solidFill>
              </a:rPr>
              <a:t>AIU.</a:t>
            </a:r>
            <a:r>
              <a:rPr lang="en-US" sz="1000" b="1" dirty="0">
                <a:solidFill>
                  <a:srgbClr val="1B2A6B"/>
                </a:solidFill>
              </a:rPr>
              <a:t>  ALAMEIN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228600" y="347472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1B2A6B"/>
                </a:solidFill>
              </a:rPr>
              <a:t>INTERNATIONAL UNIVERSITY</a:t>
            </a:r>
            <a:endParaRPr lang="en-US" sz="650" dirty="0"/>
          </a:p>
        </p:txBody>
      </p:sp>
      <p:sp>
        <p:nvSpPr>
          <p:cNvPr id="4" name="Shape 2"/>
          <p:cNvSpPr/>
          <p:nvPr/>
        </p:nvSpPr>
        <p:spPr>
          <a:xfrm>
            <a:off x="228600" y="521208"/>
            <a:ext cx="2286000" cy="0"/>
          </a:xfrm>
          <a:prstGeom prst="line">
            <a:avLst/>
          </a:prstGeom>
          <a:noFill/>
          <a:ln w="15240">
            <a:solidFill>
              <a:srgbClr val="1B2A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95728" y="457200"/>
            <a:ext cx="118872" cy="118872"/>
          </a:xfrm>
          <a:prstGeom prst="ellipse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651760" y="9144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Review &amp; Available Solutions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8B1A2B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77316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Shape Your Own Identity, The Future is Yours.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0" y="477316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</a:rPr>
              <a:t>www.aiu.edu.eg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731520"/>
          <a:ext cx="8503920" cy="384048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Solution Type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Arabic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Child-</a:t>
                      </a:r>
                      <a:endParaRPr lang="en-US" sz="900" dirty="0"/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Friendly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Real-Time</a:t>
                      </a:r>
                      <a:endParaRPr lang="en-US" sz="900" dirty="0"/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Correction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Ground</a:t>
                      </a:r>
                      <a:endParaRPr lang="en-US" sz="900" dirty="0"/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Truth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Gamifi-</a:t>
                      </a:r>
                      <a:endParaRPr lang="en-US" sz="900" dirty="0"/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cation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Dashboard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555"/>
                          </a:solidFill>
                        </a:rPr>
                        <a:t>Static Arabic Alphabet Apps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7700"/>
                          </a:solidFill>
                        </a:rPr>
                        <a:t>✓✓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7700"/>
                          </a:solidFill>
                        </a:rPr>
                        <a:t>✓✓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0272D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0272D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</a:rPr>
                        <a:t>△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0272D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555"/>
                          </a:solidFill>
                        </a:rPr>
                        <a:t>Video-Based Arabic Learning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7700"/>
                          </a:solidFill>
                        </a:rPr>
                        <a:t>✓✓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</a:rPr>
                        <a:t>△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0272D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0272D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0272D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0272D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555"/>
                          </a:solidFill>
                        </a:rPr>
                        <a:t>Quran Recitation Systems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7700"/>
                          </a:solidFill>
                        </a:rPr>
                        <a:t>✓✓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</a:rPr>
                        <a:t>△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</a:rPr>
                        <a:t>△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</a:rPr>
                        <a:t>△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</a:rPr>
                        <a:t>△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0272D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55555"/>
                          </a:solidFill>
                        </a:rPr>
                        <a:t>General Language Apps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</a:rPr>
                        <a:t>△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</a:rPr>
                        <a:t>△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</a:rPr>
                        <a:t>△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7700"/>
                          </a:solidFill>
                        </a:rPr>
                        <a:t>✓✓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</a:rPr>
                        <a:t>△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Yantiq (Proposed)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8B84B"/>
                          </a:solidFill>
                        </a:rPr>
                        <a:t>✓✓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8B84B"/>
                          </a:solidFill>
                        </a:rPr>
                        <a:t>✓✓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8B84B"/>
                          </a:solidFill>
                        </a:rPr>
                        <a:t>✓✓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8B84B"/>
                          </a:solidFill>
                        </a:rPr>
                        <a:t>✓✓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8B84B"/>
                          </a:solidFill>
                        </a:rPr>
                        <a:t>✓✓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8B84B"/>
                          </a:solidFill>
                        </a:rPr>
                        <a:t>✓✓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1097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272D"/>
                </a:solidFill>
              </a:rPr>
              <a:t>AIU.</a:t>
            </a:r>
            <a:r>
              <a:rPr lang="en-US" sz="1000" b="1" dirty="0">
                <a:solidFill>
                  <a:srgbClr val="1B2A6B"/>
                </a:solidFill>
              </a:rPr>
              <a:t>  ALAMEIN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228600" y="347472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1B2A6B"/>
                </a:solidFill>
              </a:rPr>
              <a:t>INTERNATIONAL UNIVERSITY</a:t>
            </a:r>
            <a:endParaRPr lang="en-US" sz="650" dirty="0"/>
          </a:p>
        </p:txBody>
      </p:sp>
      <p:sp>
        <p:nvSpPr>
          <p:cNvPr id="4" name="Shape 2"/>
          <p:cNvSpPr/>
          <p:nvPr/>
        </p:nvSpPr>
        <p:spPr>
          <a:xfrm>
            <a:off x="228600" y="521208"/>
            <a:ext cx="2286000" cy="0"/>
          </a:xfrm>
          <a:prstGeom prst="line">
            <a:avLst/>
          </a:prstGeom>
          <a:noFill/>
          <a:ln w="15240">
            <a:solidFill>
              <a:srgbClr val="1B2A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95728" y="457200"/>
            <a:ext cx="118872" cy="118872"/>
          </a:xfrm>
          <a:prstGeom prst="ellipse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651760" y="9144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8B1A2B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77316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Shape Your Own Identity, The Future is Yours.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0" y="477316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</a:rPr>
              <a:t>www.aiu.edu.eg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321040" y="4251960"/>
            <a:ext cx="1280160" cy="1280160"/>
          </a:xfrm>
          <a:prstGeom prst="ellipse">
            <a:avLst/>
          </a:prstGeom>
          <a:solidFill>
            <a:srgbClr val="C0272D">
              <a:alpha val="85000"/>
            </a:srgbClr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41080" y="4526280"/>
            <a:ext cx="914400" cy="914400"/>
          </a:xfrm>
          <a:prstGeom prst="ellipse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3840" y="762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55555"/>
                </a:solidFill>
              </a:rPr>
              <a:t>Learning Path →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43840" y="108204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  <a:effectLst>
            <a:outerShdw blurRad="635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35280" y="113690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35280" y="146608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Letters Level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5280" y="1758696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EEEEE"/>
                </a:solidFill>
              </a:rPr>
              <a:t>Learn to recognize &amp; pronounce individual Arabic letters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005328" y="108204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  <a:effectLst>
            <a:outerShdw blurRad="635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096768" y="113690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3096768" y="146608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Words Level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096768" y="1758696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EEEEE"/>
                </a:solidFill>
              </a:rPr>
              <a:t>Combine letter sounds into simple Arabic words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766816" y="108204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635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858256" y="113690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858256" y="146608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Sentences Level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858256" y="1758696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EEEEE"/>
                </a:solidFill>
              </a:rPr>
              <a:t>Practice short Arabic sentences for reading fluency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43840" y="2453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6B"/>
                </a:solidFill>
              </a:rPr>
              <a:t>Core Features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3840" y="2791968"/>
            <a:ext cx="2423160" cy="45720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2712" y="2846832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6B"/>
                </a:solidFill>
              </a:rPr>
              <a:t>🎙  Audio-First Learning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895600" y="2791968"/>
            <a:ext cx="2423160" cy="45720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014472" y="2846832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6B"/>
                </a:solidFill>
              </a:rPr>
              <a:t>⚡  Real-Time Feedback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547360" y="2791968"/>
            <a:ext cx="2423160" cy="45720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66232" y="2846832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6B"/>
                </a:solidFill>
              </a:rPr>
              <a:t>⭐  Gamification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43840" y="3358896"/>
            <a:ext cx="2423160" cy="45720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2712" y="3413760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6B"/>
                </a:solidFill>
              </a:rPr>
              <a:t>📈  Progress Dashboard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895600" y="3358896"/>
            <a:ext cx="2423160" cy="45720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014472" y="3413760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6B"/>
                </a:solidFill>
              </a:rPr>
              <a:t>🤖  AI Speech Model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547360" y="3358896"/>
            <a:ext cx="2423160" cy="45720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6232" y="3413760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6B"/>
                </a:solidFill>
              </a:rPr>
              <a:t>🔒  Child-Safe Design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ED57B03D-2792-3CF4-7EA3-B41DF6609862}"/>
              </a:ext>
            </a:extLst>
          </p:cNvPr>
          <p:cNvSpPr/>
          <p:nvPr/>
        </p:nvSpPr>
        <p:spPr>
          <a:xfrm>
            <a:off x="228600" y="1097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272D"/>
                </a:solidFill>
              </a:rPr>
              <a:t>AIU.</a:t>
            </a:r>
            <a:r>
              <a:rPr lang="en-US" sz="1000" b="1" dirty="0">
                <a:solidFill>
                  <a:srgbClr val="1B2A6B"/>
                </a:solidFill>
              </a:rPr>
              <a:t>  ALAMEIN</a:t>
            </a:r>
            <a:endParaRPr lang="en-US" sz="13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5D23A2BE-84DF-6C4B-EBAA-6825EEE33B63}"/>
              </a:ext>
            </a:extLst>
          </p:cNvPr>
          <p:cNvSpPr/>
          <p:nvPr/>
        </p:nvSpPr>
        <p:spPr>
          <a:xfrm>
            <a:off x="228600" y="347472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1B2A6B"/>
                </a:solidFill>
              </a:rPr>
              <a:t>INTERNATIONAL UNIVERSITY</a:t>
            </a:r>
            <a:endParaRPr lang="en-US" sz="650" dirty="0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A9DFFEE5-FFAE-53FF-99CD-8454709E7E9C}"/>
              </a:ext>
            </a:extLst>
          </p:cNvPr>
          <p:cNvSpPr/>
          <p:nvPr/>
        </p:nvSpPr>
        <p:spPr>
          <a:xfrm>
            <a:off x="228600" y="521208"/>
            <a:ext cx="2286000" cy="0"/>
          </a:xfrm>
          <a:prstGeom prst="line">
            <a:avLst/>
          </a:prstGeom>
          <a:noFill/>
          <a:ln w="15240">
            <a:solidFill>
              <a:srgbClr val="1B2A6B"/>
            </a:solidFill>
            <a:prstDash val="solid"/>
          </a:ln>
        </p:spPr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9ED5F775-6AD7-7B53-D3A5-E9905C2DABA3}"/>
              </a:ext>
            </a:extLst>
          </p:cNvPr>
          <p:cNvSpPr/>
          <p:nvPr/>
        </p:nvSpPr>
        <p:spPr>
          <a:xfrm>
            <a:off x="2395728" y="457200"/>
            <a:ext cx="118872" cy="118872"/>
          </a:xfrm>
          <a:prstGeom prst="ellipse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D7A7F3BA-2CBE-0933-8D07-0EA9FE6E156C}"/>
              </a:ext>
            </a:extLst>
          </p:cNvPr>
          <p:cNvSpPr/>
          <p:nvPr/>
        </p:nvSpPr>
        <p:spPr>
          <a:xfrm>
            <a:off x="2651760" y="9144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>
                <a:solidFill>
                  <a:srgbClr val="002060"/>
                </a:solidFill>
                <a:ea typeface="+mn-lt"/>
                <a:cs typeface="+mn-lt"/>
              </a:rPr>
              <a:t>Available </a:t>
            </a:r>
            <a:r>
              <a:rPr lang="en-US" sz="2400" b="1">
                <a:solidFill>
                  <a:srgbClr val="1B2A6B"/>
                </a:solidFill>
                <a:latin typeface="Cambria"/>
                <a:ea typeface="Cambria"/>
              </a:rPr>
              <a:t>Solution </a:t>
            </a:r>
          </a:p>
        </p:txBody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1AEBB966-F2E4-EC0C-6810-E5C4A580BEA2}"/>
              </a:ext>
            </a:extLst>
          </p:cNvPr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8B1A2B"/>
          </a:solidFill>
          <a:ln/>
        </p:spPr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38511460-B778-4D18-90CC-074EE1694570}"/>
              </a:ext>
            </a:extLst>
          </p:cNvPr>
          <p:cNvSpPr/>
          <p:nvPr/>
        </p:nvSpPr>
        <p:spPr>
          <a:xfrm>
            <a:off x="274320" y="477316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Shape Your Own Identity, The Future is Yours.</a:t>
            </a:r>
            <a:endParaRPr lang="en-US" sz="900" dirty="0"/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8631731E-BB9B-A0B6-6B28-F0AB770E8A38}"/>
              </a:ext>
            </a:extLst>
          </p:cNvPr>
          <p:cNvSpPr/>
          <p:nvPr/>
        </p:nvSpPr>
        <p:spPr>
          <a:xfrm>
            <a:off x="6858000" y="477316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</a:rPr>
              <a:t>www.aiu.edu.eg</a:t>
            </a:r>
            <a:endParaRPr lang="en-US" sz="900" dirty="0"/>
          </a:p>
        </p:txBody>
      </p:sp>
      <p:sp>
        <p:nvSpPr>
          <p:cNvPr id="19" name="Shape 8">
            <a:extLst>
              <a:ext uri="{FF2B5EF4-FFF2-40B4-BE49-F238E27FC236}">
                <a16:creationId xmlns:a16="http://schemas.microsoft.com/office/drawing/2014/main" id="{EE5187E7-3FC9-BD79-7563-EB3A033D5181}"/>
              </a:ext>
            </a:extLst>
          </p:cNvPr>
          <p:cNvSpPr/>
          <p:nvPr/>
        </p:nvSpPr>
        <p:spPr>
          <a:xfrm>
            <a:off x="8321040" y="4251960"/>
            <a:ext cx="1280160" cy="1280160"/>
          </a:xfrm>
          <a:prstGeom prst="ellipse">
            <a:avLst/>
          </a:prstGeom>
          <a:solidFill>
            <a:srgbClr val="C0272D">
              <a:alpha val="85000"/>
            </a:srgbClr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21" name="Shape 9">
            <a:extLst>
              <a:ext uri="{FF2B5EF4-FFF2-40B4-BE49-F238E27FC236}">
                <a16:creationId xmlns:a16="http://schemas.microsoft.com/office/drawing/2014/main" id="{324606E6-1F38-9D82-2465-FACF66710FE8}"/>
              </a:ext>
            </a:extLst>
          </p:cNvPr>
          <p:cNvSpPr/>
          <p:nvPr/>
        </p:nvSpPr>
        <p:spPr>
          <a:xfrm>
            <a:off x="8641080" y="4526280"/>
            <a:ext cx="914400" cy="914400"/>
          </a:xfrm>
          <a:prstGeom prst="ellipse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graphicFrame>
        <p:nvGraphicFramePr>
          <p:cNvPr id="78" name="Table 77">
            <a:extLst>
              <a:ext uri="{FF2B5EF4-FFF2-40B4-BE49-F238E27FC236}">
                <a16:creationId xmlns:a16="http://schemas.microsoft.com/office/drawing/2014/main" id="{A7AC85D3-BA6A-F45F-5FB5-9431779097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0509628"/>
              </p:ext>
            </p:extLst>
          </p:nvPr>
        </p:nvGraphicFramePr>
        <p:xfrm>
          <a:off x="118539" y="937260"/>
          <a:ext cx="8899656" cy="311192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483276">
                  <a:extLst>
                    <a:ext uri="{9D8B030D-6E8A-4147-A177-3AD203B41FA5}">
                      <a16:colId xmlns:a16="http://schemas.microsoft.com/office/drawing/2014/main" val="3123714860"/>
                    </a:ext>
                  </a:extLst>
                </a:gridCol>
                <a:gridCol w="1483276">
                  <a:extLst>
                    <a:ext uri="{9D8B030D-6E8A-4147-A177-3AD203B41FA5}">
                      <a16:colId xmlns:a16="http://schemas.microsoft.com/office/drawing/2014/main" val="1714331833"/>
                    </a:ext>
                  </a:extLst>
                </a:gridCol>
                <a:gridCol w="1483276">
                  <a:extLst>
                    <a:ext uri="{9D8B030D-6E8A-4147-A177-3AD203B41FA5}">
                      <a16:colId xmlns:a16="http://schemas.microsoft.com/office/drawing/2014/main" val="94694512"/>
                    </a:ext>
                  </a:extLst>
                </a:gridCol>
                <a:gridCol w="1483276">
                  <a:extLst>
                    <a:ext uri="{9D8B030D-6E8A-4147-A177-3AD203B41FA5}">
                      <a16:colId xmlns:a16="http://schemas.microsoft.com/office/drawing/2014/main" val="3487031129"/>
                    </a:ext>
                  </a:extLst>
                </a:gridCol>
                <a:gridCol w="1483276">
                  <a:extLst>
                    <a:ext uri="{9D8B030D-6E8A-4147-A177-3AD203B41FA5}">
                      <a16:colId xmlns:a16="http://schemas.microsoft.com/office/drawing/2014/main" val="3718006212"/>
                    </a:ext>
                  </a:extLst>
                </a:gridCol>
                <a:gridCol w="1483276">
                  <a:extLst>
                    <a:ext uri="{9D8B030D-6E8A-4147-A177-3AD203B41FA5}">
                      <a16:colId xmlns:a16="http://schemas.microsoft.com/office/drawing/2014/main" val="4041677974"/>
                    </a:ext>
                  </a:extLst>
                </a:gridCol>
              </a:tblGrid>
              <a:tr h="691540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GB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Solution Category</a:t>
                      </a:r>
                      <a:endParaRPr lang="en-GB" sz="1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GB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Child-Friendly UX</a:t>
                      </a:r>
                      <a:endParaRPr lang="en-GB" sz="1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GB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Real-Time Pronunciation Correction</a:t>
                      </a:r>
                      <a:endParaRPr lang="en-GB" sz="1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GB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Structured Early Literacy Progression</a:t>
                      </a:r>
                      <a:endParaRPr lang="en-GB" sz="1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GB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Active Speaking Integration</a:t>
                      </a:r>
                      <a:endParaRPr lang="en-GB" sz="1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GB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Guardian Progress Tracking</a:t>
                      </a:r>
                      <a:endParaRPr lang="en-GB" sz="1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6022736"/>
                  </a:ext>
                </a:extLst>
              </a:tr>
              <a:tr h="518654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GB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Static Alphabet Apps</a:t>
                      </a:r>
                      <a:endParaRPr lang="en-GB" sz="1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GB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High</a:t>
                      </a:r>
                      <a:endParaRPr lang="en-GB" sz="1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GB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Low</a:t>
                      </a:r>
                      <a:endParaRPr lang="en-GB" sz="1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GB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Low (Usually isolated letters)</a:t>
                      </a:r>
                      <a:endParaRPr lang="en-GB" sz="1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GB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Low</a:t>
                      </a:r>
                      <a:endParaRPr lang="en-GB" sz="1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GB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Low</a:t>
                      </a:r>
                      <a:endParaRPr lang="en-GB" sz="1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7380646"/>
                  </a:ext>
                </a:extLst>
              </a:tr>
              <a:tr h="518654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GB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Quran Recitation Apps</a:t>
                      </a:r>
                      <a:endParaRPr lang="en-GB" sz="1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GB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Medium</a:t>
                      </a:r>
                      <a:endParaRPr lang="en-GB" sz="1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GB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High (Tajweed focus)</a:t>
                      </a:r>
                      <a:endParaRPr lang="en-GB" sz="1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GB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Low (Not designed for early MSA reading)</a:t>
                      </a:r>
                      <a:endParaRPr lang="en-GB" sz="1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GB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High</a:t>
                      </a:r>
                      <a:endParaRPr lang="en-GB" sz="1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GB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Low / Medium</a:t>
                      </a:r>
                      <a:endParaRPr lang="en-GB" sz="1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8600302"/>
                  </a:ext>
                </a:extLst>
              </a:tr>
              <a:tr h="691540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GB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General Language Apps</a:t>
                      </a:r>
                      <a:endParaRPr lang="en-GB" sz="1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GB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Medium / High</a:t>
                      </a:r>
                      <a:endParaRPr lang="en-GB" sz="1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GB" sz="10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Medium (Not optimized for children's voices)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GB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Medium</a:t>
                      </a:r>
                      <a:endParaRPr lang="en-GB" sz="1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GB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Medium</a:t>
                      </a:r>
                      <a:endParaRPr lang="en-GB" sz="1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GB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Medium</a:t>
                      </a:r>
                      <a:endParaRPr lang="en-GB" sz="1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614690"/>
                  </a:ext>
                </a:extLst>
              </a:tr>
              <a:tr h="691540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GB" sz="1000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Yantiq</a:t>
                      </a:r>
                      <a:r>
                        <a:rPr lang="en-GB" sz="10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(Proposed)</a:t>
                      </a:r>
                      <a:endParaRPr lang="en-GB" sz="1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GB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High</a:t>
                      </a:r>
                      <a:endParaRPr lang="en-GB" sz="1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GB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High (Fine-tuned for children's MSA)</a:t>
                      </a:r>
                      <a:endParaRPr lang="en-GB" sz="1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GB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High (Stepwise: Letters → Sentences)</a:t>
                      </a:r>
                      <a:endParaRPr lang="en-GB" sz="1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GB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High (Audio-first)</a:t>
                      </a:r>
                      <a:endParaRPr lang="en-GB" sz="1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GB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High (Dedicated Profiles/Dashboard)</a:t>
                      </a:r>
                      <a:endParaRPr lang="en-GB" sz="1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6910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19613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69EAF2BB-ACF4-8C77-E86A-239472644449}"/>
              </a:ext>
            </a:extLst>
          </p:cNvPr>
          <p:cNvSpPr/>
          <p:nvPr/>
        </p:nvSpPr>
        <p:spPr>
          <a:xfrm>
            <a:off x="228600" y="1097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272D"/>
                </a:solidFill>
              </a:rPr>
              <a:t>AIU.</a:t>
            </a:r>
            <a:r>
              <a:rPr lang="en-US" sz="1000" b="1" dirty="0">
                <a:solidFill>
                  <a:srgbClr val="1B2A6B"/>
                </a:solidFill>
              </a:rPr>
              <a:t>  ALAMEIN</a:t>
            </a:r>
            <a:endParaRPr lang="en-US" sz="13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718257A5-54D2-2628-880F-7A22F7314054}"/>
              </a:ext>
            </a:extLst>
          </p:cNvPr>
          <p:cNvSpPr/>
          <p:nvPr/>
        </p:nvSpPr>
        <p:spPr>
          <a:xfrm>
            <a:off x="228600" y="347472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1B2A6B"/>
                </a:solidFill>
              </a:rPr>
              <a:t>INTERNATIONAL UNIVERSITY</a:t>
            </a:r>
            <a:endParaRPr lang="en-US" sz="650" dirty="0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5F47077F-B209-7A01-500B-70EEBCCE583F}"/>
              </a:ext>
            </a:extLst>
          </p:cNvPr>
          <p:cNvSpPr/>
          <p:nvPr/>
        </p:nvSpPr>
        <p:spPr>
          <a:xfrm>
            <a:off x="228600" y="521208"/>
            <a:ext cx="2286000" cy="0"/>
          </a:xfrm>
          <a:prstGeom prst="line">
            <a:avLst/>
          </a:prstGeom>
          <a:noFill/>
          <a:ln w="15240">
            <a:solidFill>
              <a:srgbClr val="1B2A6B"/>
            </a:solidFill>
            <a:prstDash val="solid"/>
          </a:ln>
        </p:spPr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16EB0862-09BE-4F46-DAD3-B4A900B6BC35}"/>
              </a:ext>
            </a:extLst>
          </p:cNvPr>
          <p:cNvSpPr/>
          <p:nvPr/>
        </p:nvSpPr>
        <p:spPr>
          <a:xfrm>
            <a:off x="2395728" y="457200"/>
            <a:ext cx="118872" cy="118872"/>
          </a:xfrm>
          <a:prstGeom prst="ellipse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8A6485B5-A802-141A-425A-48410FC97242}"/>
              </a:ext>
            </a:extLst>
          </p:cNvPr>
          <p:cNvSpPr/>
          <p:nvPr/>
        </p:nvSpPr>
        <p:spPr>
          <a:xfrm>
            <a:off x="2651760" y="9144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>
                <a:solidFill>
                  <a:srgbClr val="002060"/>
                </a:solidFill>
                <a:ea typeface="+mn-lt"/>
                <a:cs typeface="+mn-lt"/>
              </a:rPr>
              <a:t>Methodology</a:t>
            </a:r>
            <a:endParaRPr lang="en-US"/>
          </a:p>
        </p:txBody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F03CF1EA-1464-CC3C-04B9-D44D7C8DD038}"/>
              </a:ext>
            </a:extLst>
          </p:cNvPr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8B1A2B"/>
          </a:solidFill>
          <a:ln/>
        </p:spPr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24540473-7B3C-EDC4-A409-DE6E9FBDC6A6}"/>
              </a:ext>
            </a:extLst>
          </p:cNvPr>
          <p:cNvSpPr/>
          <p:nvPr/>
        </p:nvSpPr>
        <p:spPr>
          <a:xfrm>
            <a:off x="274320" y="477316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Shape Your Own Identity, The Future is Yours.</a:t>
            </a:r>
            <a:endParaRPr lang="en-US" sz="900" dirty="0"/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5C3ECC3A-C930-0756-828B-59CC23F65AD6}"/>
              </a:ext>
            </a:extLst>
          </p:cNvPr>
          <p:cNvSpPr/>
          <p:nvPr/>
        </p:nvSpPr>
        <p:spPr>
          <a:xfrm>
            <a:off x="6858000" y="477316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</a:rPr>
              <a:t>www.aiu.edu.eg</a:t>
            </a:r>
            <a:endParaRPr lang="en-US" sz="900" dirty="0"/>
          </a:p>
        </p:txBody>
      </p:sp>
      <p:sp>
        <p:nvSpPr>
          <p:cNvPr id="19" name="Shape 8">
            <a:extLst>
              <a:ext uri="{FF2B5EF4-FFF2-40B4-BE49-F238E27FC236}">
                <a16:creationId xmlns:a16="http://schemas.microsoft.com/office/drawing/2014/main" id="{75343811-E468-E40B-2ECB-47E44011668E}"/>
              </a:ext>
            </a:extLst>
          </p:cNvPr>
          <p:cNvSpPr/>
          <p:nvPr/>
        </p:nvSpPr>
        <p:spPr>
          <a:xfrm>
            <a:off x="8321040" y="4251960"/>
            <a:ext cx="1280160" cy="1280160"/>
          </a:xfrm>
          <a:prstGeom prst="ellipse">
            <a:avLst/>
          </a:prstGeom>
          <a:solidFill>
            <a:srgbClr val="C0272D">
              <a:alpha val="85000"/>
            </a:srgbClr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21" name="Shape 9">
            <a:extLst>
              <a:ext uri="{FF2B5EF4-FFF2-40B4-BE49-F238E27FC236}">
                <a16:creationId xmlns:a16="http://schemas.microsoft.com/office/drawing/2014/main" id="{9F0A7938-FBDF-5E04-1447-DE29E31647F6}"/>
              </a:ext>
            </a:extLst>
          </p:cNvPr>
          <p:cNvSpPr/>
          <p:nvPr/>
        </p:nvSpPr>
        <p:spPr>
          <a:xfrm>
            <a:off x="8641080" y="4526280"/>
            <a:ext cx="914400" cy="914400"/>
          </a:xfrm>
          <a:prstGeom prst="ellipse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E39B3F5-E4C8-8F67-6B8E-E0111E60E73A}"/>
              </a:ext>
            </a:extLst>
          </p:cNvPr>
          <p:cNvSpPr txBox="1"/>
          <p:nvPr/>
        </p:nvSpPr>
        <p:spPr>
          <a:xfrm>
            <a:off x="12892" y="579555"/>
            <a:ext cx="8854333" cy="427809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600" b="1"/>
              <a:t>1. Methodology &amp; Architecture</a:t>
            </a:r>
            <a:endParaRPr lang="en-GB" sz="1600" b="1" dirty="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GB" sz="1600" b="1">
                <a:ea typeface="+mn-lt"/>
                <a:cs typeface="+mn-lt"/>
              </a:rPr>
              <a:t>Modular System:</a:t>
            </a:r>
            <a:r>
              <a:rPr lang="en-GB" sz="1600">
                <a:ea typeface="+mn-lt"/>
                <a:cs typeface="+mn-lt"/>
              </a:rPr>
              <a:t> The workload is distributed across a Mobile Application (UI/recording), a Main Backend (logic/profiles), and an Isolated AI Service Layer (handling inference).</a:t>
            </a:r>
            <a:endParaRPr lang="en-GB" sz="1600" dirty="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GB" sz="1600" b="1" dirty="0">
                <a:ea typeface="+mn-lt"/>
                <a:cs typeface="+mn-lt"/>
              </a:rPr>
              <a:t>The Key Differentiator:</a:t>
            </a:r>
            <a:r>
              <a:rPr lang="en-GB" sz="1600" dirty="0">
                <a:ea typeface="+mn-lt"/>
                <a:cs typeface="+mn-lt"/>
              </a:rPr>
              <a:t> Instead of using inaccurate general models, we fine-tune a highly accurate Quranic speech model to Modern Standard Arabic (MSA). By adapting its output classes, we retain deep phonetic sensitivity while removing rigid recitation rules.</a:t>
            </a:r>
            <a:endParaRPr lang="en-GB" sz="1600" dirty="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GB" sz="1600"/>
              <a:t>2. Data Collection &amp; Processing</a:t>
            </a:r>
            <a:endParaRPr lang="en-GB" sz="1600" dirty="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GB" sz="1600" b="1">
                <a:ea typeface="+mn-lt"/>
                <a:cs typeface="+mn-lt"/>
              </a:rPr>
              <a:t>Predefined Ground Truth:</a:t>
            </a:r>
            <a:r>
              <a:rPr lang="en-GB" sz="1600">
                <a:ea typeface="+mn-lt"/>
                <a:cs typeface="+mn-lt"/>
              </a:rPr>
              <a:t> The stepwise curriculum (letters, words, sentences) serves as the exact baseline for expected pronunciation.</a:t>
            </a:r>
            <a:endParaRPr lang="en-GB" sz="1600" dirty="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GB" sz="1600" b="1">
                <a:ea typeface="+mn-lt"/>
                <a:cs typeface="+mn-lt"/>
              </a:rPr>
              <a:t>Audio Capture Pipeline:</a:t>
            </a:r>
            <a:r>
              <a:rPr lang="en-GB" sz="1600">
                <a:ea typeface="+mn-lt"/>
                <a:cs typeface="+mn-lt"/>
              </a:rPr>
              <a:t> The mobile app captures the child's speech, while the AI service handles preprocessing to clean the audio and isolate the child's voice.</a:t>
            </a:r>
            <a:endParaRPr lang="en-GB" sz="1600" dirty="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GB" sz="1600"/>
              <a:t>3. Evaluation Techniques</a:t>
            </a:r>
            <a:endParaRPr lang="en-GB" sz="1600" dirty="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GB" sz="1600" b="1">
                <a:ea typeface="+mn-lt"/>
                <a:cs typeface="+mn-lt"/>
              </a:rPr>
              <a:t>Comparative Algorithm:</a:t>
            </a:r>
            <a:r>
              <a:rPr lang="en-GB" sz="1600">
                <a:ea typeface="+mn-lt"/>
                <a:cs typeface="+mn-lt"/>
              </a:rPr>
              <a:t> The AI model transcribes the speech and compares it directly against the predefined ground truth, rather than relying on open-ended transcription.</a:t>
            </a:r>
            <a:endParaRPr lang="en-GB" sz="1600" dirty="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GB" sz="1600" b="1">
                <a:ea typeface="+mn-lt"/>
                <a:cs typeface="+mn-lt"/>
              </a:rPr>
              <a:t>Real-Time Loop:</a:t>
            </a:r>
            <a:r>
              <a:rPr lang="en-GB" sz="1600">
                <a:ea typeface="+mn-lt"/>
                <a:cs typeface="+mn-lt"/>
              </a:rPr>
              <a:t> The system generates a correctness score and returns guided, encouraging feedback to the user in under 2 seconds.</a:t>
            </a:r>
            <a:endParaRPr lang="en-GB" sz="1600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GB" sz="16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544729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1097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272D"/>
                </a:solidFill>
              </a:rPr>
              <a:t>AIU.</a:t>
            </a:r>
            <a:r>
              <a:rPr lang="en-US" sz="1000" b="1" dirty="0">
                <a:solidFill>
                  <a:srgbClr val="1B2A6B"/>
                </a:solidFill>
              </a:rPr>
              <a:t>  ALAMEIN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228600" y="347472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1B2A6B"/>
                </a:solidFill>
              </a:rPr>
              <a:t>INTERNATIONAL UNIVERSITY</a:t>
            </a:r>
            <a:endParaRPr lang="en-US" sz="650" dirty="0"/>
          </a:p>
        </p:txBody>
      </p:sp>
      <p:sp>
        <p:nvSpPr>
          <p:cNvPr id="4" name="Shape 2"/>
          <p:cNvSpPr/>
          <p:nvPr/>
        </p:nvSpPr>
        <p:spPr>
          <a:xfrm>
            <a:off x="228600" y="521208"/>
            <a:ext cx="2286000" cy="0"/>
          </a:xfrm>
          <a:prstGeom prst="line">
            <a:avLst/>
          </a:prstGeom>
          <a:noFill/>
          <a:ln w="15240">
            <a:solidFill>
              <a:srgbClr val="1B2A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95728" y="457200"/>
            <a:ext cx="118872" cy="118872"/>
          </a:xfrm>
          <a:prstGeom prst="ellipse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651760" y="9144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Analysis &amp; Requirements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8B1A2B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77316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Shape Your Own Identity, The Future is Yours.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0" y="477316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</a:rPr>
              <a:t>www.aiu.edu.eg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321040" y="4251960"/>
            <a:ext cx="1280160" cy="1280160"/>
          </a:xfrm>
          <a:prstGeom prst="ellipse">
            <a:avLst/>
          </a:prstGeom>
          <a:solidFill>
            <a:srgbClr val="C0272D">
              <a:alpha val="85000"/>
            </a:srgbClr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41080" y="4526280"/>
            <a:ext cx="914400" cy="914400"/>
          </a:xfrm>
          <a:prstGeom prst="ellipse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749808"/>
            <a:ext cx="4114800" cy="2743200"/>
          </a:xfrm>
          <a:prstGeom prst="roundRect">
            <a:avLst>
              <a:gd name="adj" fmla="val 3333"/>
            </a:avLst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8229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Child (Primary)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113385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DDDDD"/>
                </a:solidFill>
              </a:rPr>
              <a:t>Age 4–7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1508760"/>
            <a:ext cx="109728" cy="109728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1453896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Listen &amp; repeat letters/words/sentences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1929384"/>
            <a:ext cx="109728" cy="109728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187452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Get real-time pronunciation feedback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350008"/>
            <a:ext cx="109728" cy="109728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229514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Earn stars, badges, unlock levels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2770632"/>
            <a:ext cx="109728" cy="109728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271576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Short lessons: 2–5 min each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749808"/>
            <a:ext cx="4114800" cy="2743200"/>
          </a:xfrm>
          <a:prstGeom prst="roundRect">
            <a:avLst>
              <a:gd name="adj" fmla="val 3333"/>
            </a:avLst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92040" y="8229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Parent/Guardian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892040" y="113385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DDDDD"/>
                </a:solidFill>
              </a:rPr>
              <a:t>Secondary User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92040" y="1508760"/>
            <a:ext cx="109728" cy="109728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74920" y="1453896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Create &amp; manage child profile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92040" y="1929384"/>
            <a:ext cx="109728" cy="109728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74920" y="187452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Monitor progress on dashboard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92040" y="2350008"/>
            <a:ext cx="109728" cy="109728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74920" y="229514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Set Arabic exposure level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92040" y="2770632"/>
            <a:ext cx="109728" cy="109728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74920" y="271576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Consent &amp; account management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20040" y="34853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6B"/>
                </a:solidFill>
              </a:rPr>
              <a:t>Key Requirements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20040" y="38054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🔒  Child-safe data protection (COPPA-aligned)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754880" y="38054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⚡  AI feedback ≤ 2 seconds response time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20040" y="41346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📱  Mobile-first: stable on-device performance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754880" y="41346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🎯  ≥ 80% pronunciation classification accuracy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20040" y="446379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✅  ≥ 95% API success rate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754880" y="446379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🌐  Works with internet (cloud AI service)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090DA32C-CDDF-305D-9DDE-6854785B36B4}"/>
              </a:ext>
            </a:extLst>
          </p:cNvPr>
          <p:cNvSpPr/>
          <p:nvPr/>
        </p:nvSpPr>
        <p:spPr>
          <a:xfrm>
            <a:off x="228600" y="1097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272D"/>
                </a:solidFill>
              </a:rPr>
              <a:t>AIU.</a:t>
            </a:r>
            <a:r>
              <a:rPr lang="en-US" sz="1000" b="1" dirty="0">
                <a:solidFill>
                  <a:srgbClr val="1B2A6B"/>
                </a:solidFill>
              </a:rPr>
              <a:t>  ALAMEIN</a:t>
            </a:r>
            <a:endParaRPr lang="en-US" sz="13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EB4A4F6E-9EE3-ADA7-6E2A-0C5031C079BC}"/>
              </a:ext>
            </a:extLst>
          </p:cNvPr>
          <p:cNvSpPr/>
          <p:nvPr/>
        </p:nvSpPr>
        <p:spPr>
          <a:xfrm>
            <a:off x="228600" y="347472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1B2A6B"/>
                </a:solidFill>
              </a:rPr>
              <a:t>INTERNATIONAL UNIVERSITY</a:t>
            </a:r>
            <a:endParaRPr lang="en-US" sz="650" dirty="0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D80B192A-8BFE-46A9-97F0-D9BD80F2F289}"/>
              </a:ext>
            </a:extLst>
          </p:cNvPr>
          <p:cNvSpPr/>
          <p:nvPr/>
        </p:nvSpPr>
        <p:spPr>
          <a:xfrm>
            <a:off x="228600" y="521208"/>
            <a:ext cx="2286000" cy="0"/>
          </a:xfrm>
          <a:prstGeom prst="line">
            <a:avLst/>
          </a:prstGeom>
          <a:noFill/>
          <a:ln w="15240">
            <a:solidFill>
              <a:srgbClr val="1B2A6B"/>
            </a:solidFill>
            <a:prstDash val="solid"/>
          </a:ln>
        </p:spPr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10F8EABD-CED4-F93A-9E3B-A221244B3AFE}"/>
              </a:ext>
            </a:extLst>
          </p:cNvPr>
          <p:cNvSpPr/>
          <p:nvPr/>
        </p:nvSpPr>
        <p:spPr>
          <a:xfrm>
            <a:off x="2395728" y="457200"/>
            <a:ext cx="118872" cy="118872"/>
          </a:xfrm>
          <a:prstGeom prst="ellipse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5A984790-629C-3AA6-A4D6-E5F6830A0D98}"/>
              </a:ext>
            </a:extLst>
          </p:cNvPr>
          <p:cNvSpPr/>
          <p:nvPr/>
        </p:nvSpPr>
        <p:spPr>
          <a:xfrm>
            <a:off x="2651760" y="9144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Analysis &amp; Requirements</a:t>
            </a:r>
            <a:endParaRPr lang="en-US" sz="2600" dirty="0"/>
          </a:p>
        </p:txBody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D1F62628-FFC6-7D0E-2250-542CD9D13604}"/>
              </a:ext>
            </a:extLst>
          </p:cNvPr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8B1A2B"/>
          </a:solidFill>
          <a:ln/>
        </p:spPr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89DBD26B-9B1E-D3EA-40D8-DE7442D3B4AD}"/>
              </a:ext>
            </a:extLst>
          </p:cNvPr>
          <p:cNvSpPr/>
          <p:nvPr/>
        </p:nvSpPr>
        <p:spPr>
          <a:xfrm>
            <a:off x="274320" y="477316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Shape Your Own Identity, The Future is Yours.</a:t>
            </a:r>
            <a:endParaRPr lang="en-US" sz="900" dirty="0"/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661B3F7C-FA9F-1787-6DEC-AD2340B22FCE}"/>
              </a:ext>
            </a:extLst>
          </p:cNvPr>
          <p:cNvSpPr/>
          <p:nvPr/>
        </p:nvSpPr>
        <p:spPr>
          <a:xfrm>
            <a:off x="6858000" y="477316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</a:rPr>
              <a:t>www.aiu.edu.eg</a:t>
            </a:r>
            <a:endParaRPr lang="en-US" sz="900" dirty="0"/>
          </a:p>
        </p:txBody>
      </p:sp>
      <p:sp>
        <p:nvSpPr>
          <p:cNvPr id="19" name="Shape 8">
            <a:extLst>
              <a:ext uri="{FF2B5EF4-FFF2-40B4-BE49-F238E27FC236}">
                <a16:creationId xmlns:a16="http://schemas.microsoft.com/office/drawing/2014/main" id="{797531F3-C7C5-3E69-918A-610C659B6FFA}"/>
              </a:ext>
            </a:extLst>
          </p:cNvPr>
          <p:cNvSpPr/>
          <p:nvPr/>
        </p:nvSpPr>
        <p:spPr>
          <a:xfrm>
            <a:off x="8321040" y="4251960"/>
            <a:ext cx="1280160" cy="1280160"/>
          </a:xfrm>
          <a:prstGeom prst="ellipse">
            <a:avLst/>
          </a:prstGeom>
          <a:solidFill>
            <a:srgbClr val="C0272D">
              <a:alpha val="85000"/>
            </a:srgbClr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21" name="Shape 9">
            <a:extLst>
              <a:ext uri="{FF2B5EF4-FFF2-40B4-BE49-F238E27FC236}">
                <a16:creationId xmlns:a16="http://schemas.microsoft.com/office/drawing/2014/main" id="{626A64AF-3764-54DC-EBED-749EFB519ACA}"/>
              </a:ext>
            </a:extLst>
          </p:cNvPr>
          <p:cNvSpPr/>
          <p:nvPr/>
        </p:nvSpPr>
        <p:spPr>
          <a:xfrm>
            <a:off x="8641080" y="4526280"/>
            <a:ext cx="914400" cy="914400"/>
          </a:xfrm>
          <a:prstGeom prst="ellipse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23" name="Shape 10">
            <a:extLst>
              <a:ext uri="{FF2B5EF4-FFF2-40B4-BE49-F238E27FC236}">
                <a16:creationId xmlns:a16="http://schemas.microsoft.com/office/drawing/2014/main" id="{981FCE90-03BC-D069-A93B-2A83E02AAF91}"/>
              </a:ext>
            </a:extLst>
          </p:cNvPr>
          <p:cNvSpPr/>
          <p:nvPr/>
        </p:nvSpPr>
        <p:spPr>
          <a:xfrm>
            <a:off x="320040" y="749808"/>
            <a:ext cx="4114800" cy="2743200"/>
          </a:xfrm>
          <a:prstGeom prst="roundRect">
            <a:avLst>
              <a:gd name="adj" fmla="val 3333"/>
            </a:avLst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FA25FACE-906E-C91C-A36B-BE755EF338A4}"/>
              </a:ext>
            </a:extLst>
          </p:cNvPr>
          <p:cNvSpPr/>
          <p:nvPr/>
        </p:nvSpPr>
        <p:spPr>
          <a:xfrm>
            <a:off x="457200" y="8229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Child (Primary)</a:t>
            </a:r>
            <a:endParaRPr lang="en-US" sz="1400" dirty="0"/>
          </a:p>
        </p:txBody>
      </p:sp>
      <p:sp>
        <p:nvSpPr>
          <p:cNvPr id="27" name="Text 12">
            <a:extLst>
              <a:ext uri="{FF2B5EF4-FFF2-40B4-BE49-F238E27FC236}">
                <a16:creationId xmlns:a16="http://schemas.microsoft.com/office/drawing/2014/main" id="{6A50B4AA-3D7C-9AF0-A9B3-63CB77118096}"/>
              </a:ext>
            </a:extLst>
          </p:cNvPr>
          <p:cNvSpPr/>
          <p:nvPr/>
        </p:nvSpPr>
        <p:spPr>
          <a:xfrm>
            <a:off x="457200" y="113385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DDDDD"/>
                </a:solidFill>
              </a:rPr>
              <a:t>Age 4–7</a:t>
            </a:r>
            <a:endParaRPr lang="en-US" sz="1000" dirty="0"/>
          </a:p>
        </p:txBody>
      </p:sp>
      <p:sp>
        <p:nvSpPr>
          <p:cNvPr id="29" name="Shape 13">
            <a:extLst>
              <a:ext uri="{FF2B5EF4-FFF2-40B4-BE49-F238E27FC236}">
                <a16:creationId xmlns:a16="http://schemas.microsoft.com/office/drawing/2014/main" id="{9A1B635A-2092-87E5-0C5E-258955021CC2}"/>
              </a:ext>
            </a:extLst>
          </p:cNvPr>
          <p:cNvSpPr/>
          <p:nvPr/>
        </p:nvSpPr>
        <p:spPr>
          <a:xfrm>
            <a:off x="457200" y="1508760"/>
            <a:ext cx="109728" cy="109728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31" name="Text 14">
            <a:extLst>
              <a:ext uri="{FF2B5EF4-FFF2-40B4-BE49-F238E27FC236}">
                <a16:creationId xmlns:a16="http://schemas.microsoft.com/office/drawing/2014/main" id="{662C6B3E-539B-980B-E0DF-413F6CA350C5}"/>
              </a:ext>
            </a:extLst>
          </p:cNvPr>
          <p:cNvSpPr/>
          <p:nvPr/>
        </p:nvSpPr>
        <p:spPr>
          <a:xfrm>
            <a:off x="640080" y="1453896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Listen &amp; repeat letters/words/sentences</a:t>
            </a:r>
            <a:endParaRPr lang="en-US" sz="1000" dirty="0"/>
          </a:p>
        </p:txBody>
      </p:sp>
      <p:sp>
        <p:nvSpPr>
          <p:cNvPr id="33" name="Shape 15">
            <a:extLst>
              <a:ext uri="{FF2B5EF4-FFF2-40B4-BE49-F238E27FC236}">
                <a16:creationId xmlns:a16="http://schemas.microsoft.com/office/drawing/2014/main" id="{ED0390CE-97F1-C19D-086D-3955808C50DC}"/>
              </a:ext>
            </a:extLst>
          </p:cNvPr>
          <p:cNvSpPr/>
          <p:nvPr/>
        </p:nvSpPr>
        <p:spPr>
          <a:xfrm>
            <a:off x="457200" y="1929384"/>
            <a:ext cx="109728" cy="109728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35" name="Text 16">
            <a:extLst>
              <a:ext uri="{FF2B5EF4-FFF2-40B4-BE49-F238E27FC236}">
                <a16:creationId xmlns:a16="http://schemas.microsoft.com/office/drawing/2014/main" id="{85063633-8EBC-B730-35E1-5B62FA5F63AD}"/>
              </a:ext>
            </a:extLst>
          </p:cNvPr>
          <p:cNvSpPr/>
          <p:nvPr/>
        </p:nvSpPr>
        <p:spPr>
          <a:xfrm>
            <a:off x="640080" y="187452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Get real-time pronunciation feedback</a:t>
            </a:r>
            <a:endParaRPr lang="en-US" sz="1000" dirty="0"/>
          </a:p>
        </p:txBody>
      </p:sp>
      <p:sp>
        <p:nvSpPr>
          <p:cNvPr id="37" name="Shape 17">
            <a:extLst>
              <a:ext uri="{FF2B5EF4-FFF2-40B4-BE49-F238E27FC236}">
                <a16:creationId xmlns:a16="http://schemas.microsoft.com/office/drawing/2014/main" id="{758B1D66-CC0D-8596-A908-5EC49275F6D7}"/>
              </a:ext>
            </a:extLst>
          </p:cNvPr>
          <p:cNvSpPr/>
          <p:nvPr/>
        </p:nvSpPr>
        <p:spPr>
          <a:xfrm>
            <a:off x="457200" y="2350008"/>
            <a:ext cx="109728" cy="109728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39" name="Text 18">
            <a:extLst>
              <a:ext uri="{FF2B5EF4-FFF2-40B4-BE49-F238E27FC236}">
                <a16:creationId xmlns:a16="http://schemas.microsoft.com/office/drawing/2014/main" id="{2C6B28DB-6973-A962-B38D-168FEF01899B}"/>
              </a:ext>
            </a:extLst>
          </p:cNvPr>
          <p:cNvSpPr/>
          <p:nvPr/>
        </p:nvSpPr>
        <p:spPr>
          <a:xfrm>
            <a:off x="640080" y="229514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Earn stars, badges, unlock levels</a:t>
            </a:r>
            <a:endParaRPr lang="en-US" sz="1000" dirty="0"/>
          </a:p>
        </p:txBody>
      </p:sp>
      <p:sp>
        <p:nvSpPr>
          <p:cNvPr id="41" name="Shape 19">
            <a:extLst>
              <a:ext uri="{FF2B5EF4-FFF2-40B4-BE49-F238E27FC236}">
                <a16:creationId xmlns:a16="http://schemas.microsoft.com/office/drawing/2014/main" id="{3DB62EBC-C3B9-0FE5-40BA-39E5F350AB2B}"/>
              </a:ext>
            </a:extLst>
          </p:cNvPr>
          <p:cNvSpPr/>
          <p:nvPr/>
        </p:nvSpPr>
        <p:spPr>
          <a:xfrm>
            <a:off x="457200" y="2770632"/>
            <a:ext cx="109728" cy="109728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43" name="Text 20">
            <a:extLst>
              <a:ext uri="{FF2B5EF4-FFF2-40B4-BE49-F238E27FC236}">
                <a16:creationId xmlns:a16="http://schemas.microsoft.com/office/drawing/2014/main" id="{C050A731-3776-5A95-638A-BFE2F2662996}"/>
              </a:ext>
            </a:extLst>
          </p:cNvPr>
          <p:cNvSpPr/>
          <p:nvPr/>
        </p:nvSpPr>
        <p:spPr>
          <a:xfrm>
            <a:off x="640080" y="271576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Short lessons: 2–5 min each</a:t>
            </a:r>
            <a:endParaRPr lang="en-US" sz="1000" dirty="0"/>
          </a:p>
        </p:txBody>
      </p:sp>
      <p:sp>
        <p:nvSpPr>
          <p:cNvPr id="45" name="Shape 21">
            <a:extLst>
              <a:ext uri="{FF2B5EF4-FFF2-40B4-BE49-F238E27FC236}">
                <a16:creationId xmlns:a16="http://schemas.microsoft.com/office/drawing/2014/main" id="{EFF2EA17-C61B-4670-78DB-E8E2E6495A03}"/>
              </a:ext>
            </a:extLst>
          </p:cNvPr>
          <p:cNvSpPr/>
          <p:nvPr/>
        </p:nvSpPr>
        <p:spPr>
          <a:xfrm>
            <a:off x="4754880" y="749808"/>
            <a:ext cx="4114800" cy="2743200"/>
          </a:xfrm>
          <a:prstGeom prst="roundRect">
            <a:avLst>
              <a:gd name="adj" fmla="val 3333"/>
            </a:avLst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7" name="Text 22">
            <a:extLst>
              <a:ext uri="{FF2B5EF4-FFF2-40B4-BE49-F238E27FC236}">
                <a16:creationId xmlns:a16="http://schemas.microsoft.com/office/drawing/2014/main" id="{8449BCEF-F402-9759-15F8-42F1892F35A7}"/>
              </a:ext>
            </a:extLst>
          </p:cNvPr>
          <p:cNvSpPr/>
          <p:nvPr/>
        </p:nvSpPr>
        <p:spPr>
          <a:xfrm>
            <a:off x="4892040" y="8229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Parent/Guardian</a:t>
            </a:r>
            <a:endParaRPr lang="en-US" sz="1400" dirty="0"/>
          </a:p>
        </p:txBody>
      </p:sp>
      <p:sp>
        <p:nvSpPr>
          <p:cNvPr id="49" name="Text 23">
            <a:extLst>
              <a:ext uri="{FF2B5EF4-FFF2-40B4-BE49-F238E27FC236}">
                <a16:creationId xmlns:a16="http://schemas.microsoft.com/office/drawing/2014/main" id="{CA36AA1A-B285-CB60-9B28-AEF09C6EBDC8}"/>
              </a:ext>
            </a:extLst>
          </p:cNvPr>
          <p:cNvSpPr/>
          <p:nvPr/>
        </p:nvSpPr>
        <p:spPr>
          <a:xfrm>
            <a:off x="4892040" y="113385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DDDDD"/>
                </a:solidFill>
              </a:rPr>
              <a:t>Secondary User</a:t>
            </a:r>
            <a:endParaRPr lang="en-US" sz="1000" dirty="0"/>
          </a:p>
        </p:txBody>
      </p:sp>
      <p:sp>
        <p:nvSpPr>
          <p:cNvPr id="51" name="Shape 24">
            <a:extLst>
              <a:ext uri="{FF2B5EF4-FFF2-40B4-BE49-F238E27FC236}">
                <a16:creationId xmlns:a16="http://schemas.microsoft.com/office/drawing/2014/main" id="{8198270B-E37C-B8F3-5400-E998648F9C3A}"/>
              </a:ext>
            </a:extLst>
          </p:cNvPr>
          <p:cNvSpPr/>
          <p:nvPr/>
        </p:nvSpPr>
        <p:spPr>
          <a:xfrm>
            <a:off x="4892040" y="1508760"/>
            <a:ext cx="109728" cy="109728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53" name="Text 25">
            <a:extLst>
              <a:ext uri="{FF2B5EF4-FFF2-40B4-BE49-F238E27FC236}">
                <a16:creationId xmlns:a16="http://schemas.microsoft.com/office/drawing/2014/main" id="{855E3996-6143-51BF-7FEF-148CB4735795}"/>
              </a:ext>
            </a:extLst>
          </p:cNvPr>
          <p:cNvSpPr/>
          <p:nvPr/>
        </p:nvSpPr>
        <p:spPr>
          <a:xfrm>
            <a:off x="5074920" y="1453896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Create &amp; manage child profile</a:t>
            </a:r>
            <a:endParaRPr lang="en-US" sz="1000" dirty="0"/>
          </a:p>
        </p:txBody>
      </p:sp>
      <p:sp>
        <p:nvSpPr>
          <p:cNvPr id="55" name="Shape 26">
            <a:extLst>
              <a:ext uri="{FF2B5EF4-FFF2-40B4-BE49-F238E27FC236}">
                <a16:creationId xmlns:a16="http://schemas.microsoft.com/office/drawing/2014/main" id="{E2A54FA4-DBD3-8E18-88F7-1EC6126EC78F}"/>
              </a:ext>
            </a:extLst>
          </p:cNvPr>
          <p:cNvSpPr/>
          <p:nvPr/>
        </p:nvSpPr>
        <p:spPr>
          <a:xfrm>
            <a:off x="4892040" y="1929384"/>
            <a:ext cx="109728" cy="109728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57" name="Text 27">
            <a:extLst>
              <a:ext uri="{FF2B5EF4-FFF2-40B4-BE49-F238E27FC236}">
                <a16:creationId xmlns:a16="http://schemas.microsoft.com/office/drawing/2014/main" id="{6BB8018F-34E5-2005-823E-D5E084980493}"/>
              </a:ext>
            </a:extLst>
          </p:cNvPr>
          <p:cNvSpPr/>
          <p:nvPr/>
        </p:nvSpPr>
        <p:spPr>
          <a:xfrm>
            <a:off x="5074920" y="187452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Monitor progress on dashboard</a:t>
            </a:r>
            <a:endParaRPr lang="en-US" sz="1000" dirty="0"/>
          </a:p>
        </p:txBody>
      </p:sp>
      <p:sp>
        <p:nvSpPr>
          <p:cNvPr id="59" name="Shape 28">
            <a:extLst>
              <a:ext uri="{FF2B5EF4-FFF2-40B4-BE49-F238E27FC236}">
                <a16:creationId xmlns:a16="http://schemas.microsoft.com/office/drawing/2014/main" id="{DE8A1356-78A1-8D45-363C-1370EA54F3A5}"/>
              </a:ext>
            </a:extLst>
          </p:cNvPr>
          <p:cNvSpPr/>
          <p:nvPr/>
        </p:nvSpPr>
        <p:spPr>
          <a:xfrm>
            <a:off x="4892040" y="2350008"/>
            <a:ext cx="109728" cy="109728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61" name="Text 29">
            <a:extLst>
              <a:ext uri="{FF2B5EF4-FFF2-40B4-BE49-F238E27FC236}">
                <a16:creationId xmlns:a16="http://schemas.microsoft.com/office/drawing/2014/main" id="{8157BD08-681B-90E6-2A43-367F725D0382}"/>
              </a:ext>
            </a:extLst>
          </p:cNvPr>
          <p:cNvSpPr/>
          <p:nvPr/>
        </p:nvSpPr>
        <p:spPr>
          <a:xfrm>
            <a:off x="5074920" y="229514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Set Arabic exposure level</a:t>
            </a:r>
            <a:endParaRPr lang="en-US" sz="1000" dirty="0"/>
          </a:p>
        </p:txBody>
      </p:sp>
      <p:sp>
        <p:nvSpPr>
          <p:cNvPr id="63" name="Shape 30">
            <a:extLst>
              <a:ext uri="{FF2B5EF4-FFF2-40B4-BE49-F238E27FC236}">
                <a16:creationId xmlns:a16="http://schemas.microsoft.com/office/drawing/2014/main" id="{991CC459-E88B-6F72-F4BD-79F1A6F2A5B5}"/>
              </a:ext>
            </a:extLst>
          </p:cNvPr>
          <p:cNvSpPr/>
          <p:nvPr/>
        </p:nvSpPr>
        <p:spPr>
          <a:xfrm>
            <a:off x="4892040" y="2770632"/>
            <a:ext cx="109728" cy="109728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65" name="Text 31">
            <a:extLst>
              <a:ext uri="{FF2B5EF4-FFF2-40B4-BE49-F238E27FC236}">
                <a16:creationId xmlns:a16="http://schemas.microsoft.com/office/drawing/2014/main" id="{021B326C-E8FF-A62F-4A4A-A76FDB601871}"/>
              </a:ext>
            </a:extLst>
          </p:cNvPr>
          <p:cNvSpPr/>
          <p:nvPr/>
        </p:nvSpPr>
        <p:spPr>
          <a:xfrm>
            <a:off x="5074920" y="271576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Consent &amp; account management</a:t>
            </a:r>
            <a:endParaRPr lang="en-US" sz="1000" dirty="0"/>
          </a:p>
        </p:txBody>
      </p:sp>
      <p:sp>
        <p:nvSpPr>
          <p:cNvPr id="67" name="Text 32">
            <a:extLst>
              <a:ext uri="{FF2B5EF4-FFF2-40B4-BE49-F238E27FC236}">
                <a16:creationId xmlns:a16="http://schemas.microsoft.com/office/drawing/2014/main" id="{18A196E8-E23F-9334-8528-B26240C2C951}"/>
              </a:ext>
            </a:extLst>
          </p:cNvPr>
          <p:cNvSpPr/>
          <p:nvPr/>
        </p:nvSpPr>
        <p:spPr>
          <a:xfrm>
            <a:off x="320040" y="34853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6B"/>
                </a:solidFill>
              </a:rPr>
              <a:t>Key Requirements</a:t>
            </a:r>
            <a:endParaRPr lang="en-US" sz="1200" dirty="0"/>
          </a:p>
        </p:txBody>
      </p:sp>
      <p:sp>
        <p:nvSpPr>
          <p:cNvPr id="69" name="Text 33">
            <a:extLst>
              <a:ext uri="{FF2B5EF4-FFF2-40B4-BE49-F238E27FC236}">
                <a16:creationId xmlns:a16="http://schemas.microsoft.com/office/drawing/2014/main" id="{E03FD8CA-DCBE-4AD7-9324-1696F60219F7}"/>
              </a:ext>
            </a:extLst>
          </p:cNvPr>
          <p:cNvSpPr/>
          <p:nvPr/>
        </p:nvSpPr>
        <p:spPr>
          <a:xfrm>
            <a:off x="320040" y="38054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🔒  Child-safe data protection (COPPA-aligned)</a:t>
            </a:r>
            <a:endParaRPr lang="en-US" sz="950" dirty="0"/>
          </a:p>
        </p:txBody>
      </p:sp>
      <p:sp>
        <p:nvSpPr>
          <p:cNvPr id="71" name="Text 34">
            <a:extLst>
              <a:ext uri="{FF2B5EF4-FFF2-40B4-BE49-F238E27FC236}">
                <a16:creationId xmlns:a16="http://schemas.microsoft.com/office/drawing/2014/main" id="{D37B54C1-FF89-5797-9C6F-BA56C56E3025}"/>
              </a:ext>
            </a:extLst>
          </p:cNvPr>
          <p:cNvSpPr/>
          <p:nvPr/>
        </p:nvSpPr>
        <p:spPr>
          <a:xfrm>
            <a:off x="4754880" y="38054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⚡  AI feedback ≤ 2 seconds response time</a:t>
            </a:r>
            <a:endParaRPr lang="en-US" sz="950" dirty="0"/>
          </a:p>
        </p:txBody>
      </p:sp>
      <p:sp>
        <p:nvSpPr>
          <p:cNvPr id="73" name="Text 35">
            <a:extLst>
              <a:ext uri="{FF2B5EF4-FFF2-40B4-BE49-F238E27FC236}">
                <a16:creationId xmlns:a16="http://schemas.microsoft.com/office/drawing/2014/main" id="{7F4CB800-27E5-78FE-681F-CD026898707B}"/>
              </a:ext>
            </a:extLst>
          </p:cNvPr>
          <p:cNvSpPr/>
          <p:nvPr/>
        </p:nvSpPr>
        <p:spPr>
          <a:xfrm>
            <a:off x="320040" y="41346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📱  Mobile-first: stable on-device performance</a:t>
            </a:r>
            <a:endParaRPr lang="en-US" sz="950" dirty="0"/>
          </a:p>
        </p:txBody>
      </p:sp>
      <p:sp>
        <p:nvSpPr>
          <p:cNvPr id="75" name="Text 36">
            <a:extLst>
              <a:ext uri="{FF2B5EF4-FFF2-40B4-BE49-F238E27FC236}">
                <a16:creationId xmlns:a16="http://schemas.microsoft.com/office/drawing/2014/main" id="{04F558DE-358F-323A-F30E-CE48D5D08828}"/>
              </a:ext>
            </a:extLst>
          </p:cNvPr>
          <p:cNvSpPr/>
          <p:nvPr/>
        </p:nvSpPr>
        <p:spPr>
          <a:xfrm>
            <a:off x="4754880" y="41346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🎯  ≥ 80% pronunciation classification accuracy</a:t>
            </a:r>
            <a:endParaRPr lang="en-US" sz="950" dirty="0"/>
          </a:p>
        </p:txBody>
      </p:sp>
      <p:sp>
        <p:nvSpPr>
          <p:cNvPr id="77" name="Text 37">
            <a:extLst>
              <a:ext uri="{FF2B5EF4-FFF2-40B4-BE49-F238E27FC236}">
                <a16:creationId xmlns:a16="http://schemas.microsoft.com/office/drawing/2014/main" id="{F7DA92CF-B928-9FEC-9780-254DD0CB1FCB}"/>
              </a:ext>
            </a:extLst>
          </p:cNvPr>
          <p:cNvSpPr/>
          <p:nvPr/>
        </p:nvSpPr>
        <p:spPr>
          <a:xfrm>
            <a:off x="320040" y="446379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✅  ≥ 95% API success rate</a:t>
            </a:r>
            <a:endParaRPr lang="en-US" sz="950" dirty="0"/>
          </a:p>
        </p:txBody>
      </p:sp>
      <p:sp>
        <p:nvSpPr>
          <p:cNvPr id="79" name="Text 38">
            <a:extLst>
              <a:ext uri="{FF2B5EF4-FFF2-40B4-BE49-F238E27FC236}">
                <a16:creationId xmlns:a16="http://schemas.microsoft.com/office/drawing/2014/main" id="{6FDA6D15-7185-D100-4184-670A8C919B24}"/>
              </a:ext>
            </a:extLst>
          </p:cNvPr>
          <p:cNvSpPr/>
          <p:nvPr/>
        </p:nvSpPr>
        <p:spPr>
          <a:xfrm>
            <a:off x="4754880" y="446379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🌐  Works with internet (cloud AI service)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39614391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A55ADE97-D4AD-3B66-A975-F5500AF18A0C}"/>
              </a:ext>
            </a:extLst>
          </p:cNvPr>
          <p:cNvSpPr/>
          <p:nvPr/>
        </p:nvSpPr>
        <p:spPr>
          <a:xfrm>
            <a:off x="228600" y="1097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272D"/>
                </a:solidFill>
              </a:rPr>
              <a:t>AIU.</a:t>
            </a:r>
            <a:r>
              <a:rPr lang="en-US" sz="1000" b="1" dirty="0">
                <a:solidFill>
                  <a:srgbClr val="1B2A6B"/>
                </a:solidFill>
              </a:rPr>
              <a:t>  ALAMEIN</a:t>
            </a:r>
            <a:endParaRPr lang="en-US" sz="13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4265613D-5DC7-1D52-034D-E036F019FA36}"/>
              </a:ext>
            </a:extLst>
          </p:cNvPr>
          <p:cNvSpPr/>
          <p:nvPr/>
        </p:nvSpPr>
        <p:spPr>
          <a:xfrm>
            <a:off x="228600" y="347472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1B2A6B"/>
                </a:solidFill>
              </a:rPr>
              <a:t>INTERNATIONAL UNIVERSITY</a:t>
            </a:r>
            <a:endParaRPr lang="en-US" sz="650" dirty="0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D95D81AD-0378-BED3-F3B1-0F1B2E2BF33F}"/>
              </a:ext>
            </a:extLst>
          </p:cNvPr>
          <p:cNvSpPr/>
          <p:nvPr/>
        </p:nvSpPr>
        <p:spPr>
          <a:xfrm>
            <a:off x="228600" y="521208"/>
            <a:ext cx="2286000" cy="0"/>
          </a:xfrm>
          <a:prstGeom prst="line">
            <a:avLst/>
          </a:prstGeom>
          <a:noFill/>
          <a:ln w="15240">
            <a:solidFill>
              <a:srgbClr val="1B2A6B"/>
            </a:solidFill>
            <a:prstDash val="solid"/>
          </a:ln>
        </p:spPr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4ED677A7-C961-EFDD-A54E-C7DB413A92A2}"/>
              </a:ext>
            </a:extLst>
          </p:cNvPr>
          <p:cNvSpPr/>
          <p:nvPr/>
        </p:nvSpPr>
        <p:spPr>
          <a:xfrm>
            <a:off x="2395728" y="457200"/>
            <a:ext cx="118872" cy="118872"/>
          </a:xfrm>
          <a:prstGeom prst="ellipse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8608BE2C-AC69-0E82-1842-A7A88BD1F7F3}"/>
              </a:ext>
            </a:extLst>
          </p:cNvPr>
          <p:cNvSpPr/>
          <p:nvPr/>
        </p:nvSpPr>
        <p:spPr>
          <a:xfrm>
            <a:off x="2651760" y="9144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i="0" u="none" strike="noStrike" baseline="0">
                <a:solidFill>
                  <a:srgbClr val="002060"/>
                </a:solidFill>
                <a:latin typeface="Aeonik TRIAL"/>
              </a:rPr>
              <a:t>Available Datasets</a:t>
            </a:r>
            <a:r>
              <a:rPr lang="en-US" sz="2000" b="0" i="0">
                <a:solidFill>
                  <a:srgbClr val="000000"/>
                </a:solidFill>
                <a:latin typeface="Aeonik TRIAL"/>
                <a:ea typeface="Aeonik TRIAL"/>
                <a:cs typeface="Aeonik TRIAL"/>
              </a:rPr>
              <a:t>​</a:t>
            </a:r>
            <a:endParaRPr lang="en-US" sz="2000" b="1">
              <a:solidFill>
                <a:srgbClr val="1B2A6B"/>
              </a:solidFill>
              <a:latin typeface="Cambria"/>
              <a:ea typeface="Cambria"/>
            </a:endParaRPr>
          </a:p>
        </p:txBody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30BD2DA1-94DB-D38E-97B2-96E65776E999}"/>
              </a:ext>
            </a:extLst>
          </p:cNvPr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8B1A2B"/>
          </a:solidFill>
          <a:ln/>
        </p:spPr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11D00A64-5229-B098-1B30-350313FF0221}"/>
              </a:ext>
            </a:extLst>
          </p:cNvPr>
          <p:cNvSpPr/>
          <p:nvPr/>
        </p:nvSpPr>
        <p:spPr>
          <a:xfrm>
            <a:off x="274320" y="477316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Shape Your Own Identity, The Future is Yours.</a:t>
            </a:r>
            <a:endParaRPr lang="en-US" sz="900" dirty="0"/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A0C005B5-57BD-9D29-ED5E-943F7CF8F389}"/>
              </a:ext>
            </a:extLst>
          </p:cNvPr>
          <p:cNvSpPr/>
          <p:nvPr/>
        </p:nvSpPr>
        <p:spPr>
          <a:xfrm>
            <a:off x="6858000" y="477316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</a:rPr>
              <a:t>www.aiu.edu.eg</a:t>
            </a:r>
            <a:endParaRPr lang="en-US" sz="900" dirty="0"/>
          </a:p>
        </p:txBody>
      </p:sp>
      <p:sp>
        <p:nvSpPr>
          <p:cNvPr id="19" name="Shape 8">
            <a:extLst>
              <a:ext uri="{FF2B5EF4-FFF2-40B4-BE49-F238E27FC236}">
                <a16:creationId xmlns:a16="http://schemas.microsoft.com/office/drawing/2014/main" id="{28F543B0-0499-24F4-84B9-71014E0DAB82}"/>
              </a:ext>
            </a:extLst>
          </p:cNvPr>
          <p:cNvSpPr/>
          <p:nvPr/>
        </p:nvSpPr>
        <p:spPr>
          <a:xfrm>
            <a:off x="8321040" y="4251960"/>
            <a:ext cx="1280160" cy="1280160"/>
          </a:xfrm>
          <a:prstGeom prst="ellipse">
            <a:avLst/>
          </a:prstGeom>
          <a:solidFill>
            <a:srgbClr val="C0272D">
              <a:alpha val="85000"/>
            </a:srgbClr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21" name="Shape 9">
            <a:extLst>
              <a:ext uri="{FF2B5EF4-FFF2-40B4-BE49-F238E27FC236}">
                <a16:creationId xmlns:a16="http://schemas.microsoft.com/office/drawing/2014/main" id="{61AE85C1-1251-9C76-32DF-C0B7D2EC4BCB}"/>
              </a:ext>
            </a:extLst>
          </p:cNvPr>
          <p:cNvSpPr/>
          <p:nvPr/>
        </p:nvSpPr>
        <p:spPr>
          <a:xfrm>
            <a:off x="8641080" y="4526280"/>
            <a:ext cx="914400" cy="914400"/>
          </a:xfrm>
          <a:prstGeom prst="ellipse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graphicFrame>
        <p:nvGraphicFramePr>
          <p:cNvPr id="161" name="Table 160">
            <a:extLst>
              <a:ext uri="{FF2B5EF4-FFF2-40B4-BE49-F238E27FC236}">
                <a16:creationId xmlns:a16="http://schemas.microsoft.com/office/drawing/2014/main" id="{CAD794D5-E1A9-2975-7AD3-76E4AD69B1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5061678"/>
              </p:ext>
            </p:extLst>
          </p:nvPr>
        </p:nvGraphicFramePr>
        <p:xfrm>
          <a:off x="226694" y="1074419"/>
          <a:ext cx="8522036" cy="2698473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130509">
                  <a:extLst>
                    <a:ext uri="{9D8B030D-6E8A-4147-A177-3AD203B41FA5}">
                      <a16:colId xmlns:a16="http://schemas.microsoft.com/office/drawing/2014/main" val="3000373414"/>
                    </a:ext>
                  </a:extLst>
                </a:gridCol>
                <a:gridCol w="2130509">
                  <a:extLst>
                    <a:ext uri="{9D8B030D-6E8A-4147-A177-3AD203B41FA5}">
                      <a16:colId xmlns:a16="http://schemas.microsoft.com/office/drawing/2014/main" val="1054066241"/>
                    </a:ext>
                  </a:extLst>
                </a:gridCol>
                <a:gridCol w="2130509">
                  <a:extLst>
                    <a:ext uri="{9D8B030D-6E8A-4147-A177-3AD203B41FA5}">
                      <a16:colId xmlns:a16="http://schemas.microsoft.com/office/drawing/2014/main" val="424489145"/>
                    </a:ext>
                  </a:extLst>
                </a:gridCol>
                <a:gridCol w="2130509">
                  <a:extLst>
                    <a:ext uri="{9D8B030D-6E8A-4147-A177-3AD203B41FA5}">
                      <a16:colId xmlns:a16="http://schemas.microsoft.com/office/drawing/2014/main" val="27904071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GB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Dataset Category</a:t>
                      </a:r>
                      <a:endParaRPr lang="en-GB" sz="1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GB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Pros</a:t>
                      </a:r>
                      <a:endParaRPr lang="en-GB" sz="1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GB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Cons</a:t>
                      </a:r>
                      <a:endParaRPr lang="en-GB" sz="1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GB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Suitability for Our Purpose</a:t>
                      </a:r>
                      <a:endParaRPr lang="en-GB" sz="1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71618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GB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General MSA (e.g., Mozilla Common Voice - Arabic)</a:t>
                      </a:r>
                      <a:endParaRPr lang="en-GB" sz="1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GB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Massive volume; wide variety of speakers; easily accessible open-source data.</a:t>
                      </a:r>
                      <a:endParaRPr lang="en-GB" sz="1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GB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Dominated by adult voices; varying audio quality; lacks the strict phonetic clarity needed for beginner reading.</a:t>
                      </a:r>
                      <a:endParaRPr lang="en-GB" sz="1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GB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Low/Medium</a:t>
                      </a:r>
                      <a:r>
                        <a:rPr lang="en-GB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– Good for general ASR, but poor for evaluating exact phonetic correctness in early childhood reading.</a:t>
                      </a:r>
                      <a:endParaRPr lang="en-GB" sz="1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64087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GB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Quranic Recitation Datasets (e.g., Tarteel, King Saud Univ. Corpus)</a:t>
                      </a:r>
                      <a:endParaRPr lang="en-GB" sz="1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GB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Extremely high phonetic accuracy; clear, slow-paced enunciation; perfectly aligned with Arabic character sounds.</a:t>
                      </a:r>
                      <a:endParaRPr lang="en-GB" sz="1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GB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Applies rigid </a:t>
                      </a:r>
                      <a:r>
                        <a:rPr lang="en-GB" sz="1000" i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Tajweed</a:t>
                      </a:r>
                      <a:r>
                        <a:rPr lang="en-GB" sz="10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GB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rules not used in daily reading; lacks the pitch and erratic pacing of children's voices.</a:t>
                      </a:r>
                      <a:endParaRPr lang="en-GB" sz="1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GB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High (As a Base)</a:t>
                      </a:r>
                      <a:r>
                        <a:rPr lang="en-GB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– Excellent for foundational acoustic training and precise phoneme recognition.</a:t>
                      </a:r>
                      <a:endParaRPr lang="en-GB" sz="1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4856805"/>
                  </a:ext>
                </a:extLst>
              </a:tr>
              <a:tr h="869673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GB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Curated Children's MSA Audio (e.g., Custom/Educational Corpora)</a:t>
                      </a:r>
                      <a:endParaRPr lang="en-GB" sz="1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GB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Matches the exact target demographic (pitch, pacing, common child mispronunciations).</a:t>
                      </a:r>
                      <a:endParaRPr lang="en-GB" sz="1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GB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Extremely scarce; datasets are often small, proprietary, or lack the volume needed to train a model from scratch.</a:t>
                      </a:r>
                      <a:endParaRPr lang="en-GB" sz="1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GB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High (For Fine-Tuning)</a:t>
                      </a:r>
                      <a:r>
                        <a:rPr lang="en-GB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– Essential for the final adaptation layer, but insufficient on its own.</a:t>
                      </a:r>
                      <a:endParaRPr lang="en-GB" sz="1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76916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08589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1097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272D"/>
                </a:solidFill>
              </a:rPr>
              <a:t>AIU.</a:t>
            </a:r>
            <a:r>
              <a:rPr lang="en-US" sz="1000" b="1" dirty="0">
                <a:solidFill>
                  <a:srgbClr val="1B2A6B"/>
                </a:solidFill>
              </a:rPr>
              <a:t>  ALAMEIN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228600" y="347472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1B2A6B"/>
                </a:solidFill>
              </a:rPr>
              <a:t>INTERNATIONAL UNIVERSITY</a:t>
            </a:r>
            <a:endParaRPr lang="en-US" sz="650" dirty="0"/>
          </a:p>
        </p:txBody>
      </p:sp>
      <p:sp>
        <p:nvSpPr>
          <p:cNvPr id="4" name="Shape 2"/>
          <p:cNvSpPr/>
          <p:nvPr/>
        </p:nvSpPr>
        <p:spPr>
          <a:xfrm>
            <a:off x="228600" y="521208"/>
            <a:ext cx="2286000" cy="0"/>
          </a:xfrm>
          <a:prstGeom prst="line">
            <a:avLst/>
          </a:prstGeom>
          <a:noFill/>
          <a:ln w="15240">
            <a:solidFill>
              <a:srgbClr val="1B2A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95728" y="457200"/>
            <a:ext cx="118872" cy="118872"/>
          </a:xfrm>
          <a:prstGeom prst="ellipse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651760" y="9144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8B1A2B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77316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Shape Your Own Identity, The Future is Yours.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0" y="477316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</a:rPr>
              <a:t>www.aiu.edu.eg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749808"/>
            <a:ext cx="5486400" cy="749808"/>
          </a:xfrm>
          <a:prstGeom prst="roundRect">
            <a:avLst>
              <a:gd name="adj" fmla="val 731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84048" y="822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📱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68680" y="80467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1. Mobile App Layer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107899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DDDDD"/>
                </a:solidFill>
              </a:rPr>
              <a:t>Child UI • Audio record/playback • Rewards • Progress display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188720" y="1554480"/>
            <a:ext cx="0" cy="128016"/>
          </a:xfrm>
          <a:prstGeom prst="line">
            <a:avLst/>
          </a:prstGeom>
          <a:noFill/>
          <a:ln w="19050">
            <a:solidFill>
              <a:srgbClr val="555555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320040" y="1664208"/>
            <a:ext cx="5486400" cy="749808"/>
          </a:xfrm>
          <a:prstGeom prst="roundRect">
            <a:avLst>
              <a:gd name="adj" fmla="val 7317"/>
            </a:avLst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84048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⚙️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68680" y="171907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2. Main Backend Server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" y="199339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DDDDD"/>
                </a:solidFill>
              </a:rPr>
              <a:t>REST API • Auth • Lesson logic • Progress tracking • Scoring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188720" y="2468880"/>
            <a:ext cx="0" cy="128016"/>
          </a:xfrm>
          <a:prstGeom prst="line">
            <a:avLst/>
          </a:prstGeom>
          <a:noFill/>
          <a:ln w="19050">
            <a:solidFill>
              <a:srgbClr val="555555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320040" y="2578608"/>
            <a:ext cx="5486400" cy="749808"/>
          </a:xfrm>
          <a:prstGeom prst="roundRect">
            <a:avLst>
              <a:gd name="adj" fmla="val 7317"/>
            </a:avLst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84048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68680" y="263347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3. AI Service Layer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68680" y="290779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DDDDD"/>
                </a:solidFill>
              </a:rPr>
              <a:t>FastAPI • Wav2Vec2-BERT • CTC Decode • Ground truth comparison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188720" y="3383280"/>
            <a:ext cx="0" cy="128016"/>
          </a:xfrm>
          <a:prstGeom prst="line">
            <a:avLst/>
          </a:prstGeom>
          <a:noFill/>
          <a:ln w="19050">
            <a:solidFill>
              <a:srgbClr val="555555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320040" y="3493008"/>
            <a:ext cx="5486400" cy="749808"/>
          </a:xfrm>
          <a:prstGeom prst="roundRect">
            <a:avLst>
              <a:gd name="adj" fmla="val 7317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84048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🗄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68680" y="354787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4. Database Layer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68680" y="382219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DDDDD"/>
                </a:solidFill>
              </a:rPr>
              <a:t>PostgreSQL • Users • Children • Lessons • Progress • Badges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0040" y="4453128"/>
            <a:ext cx="5486400" cy="219456"/>
          </a:xfrm>
          <a:prstGeom prst="roundRect">
            <a:avLst>
              <a:gd name="adj" fmla="val 16667"/>
            </a:avLst>
          </a:prstGeom>
          <a:solidFill>
            <a:srgbClr val="B85042">
              <a:alpha val="80000"/>
            </a:srgbClr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471416"/>
            <a:ext cx="5349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🛡  Security Layer — cross-cutting: JWT auth, TLS, input validation, audit logging, child data encryption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126480" y="74980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6B"/>
                </a:solidFill>
              </a:rPr>
              <a:t>Key Data Flows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126480" y="1143000"/>
            <a:ext cx="256032" cy="256032"/>
          </a:xfrm>
          <a:prstGeom prst="ellipse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26480" y="11155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①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455664" y="109728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</a:rPr>
              <a:t>Child records voice → sent to Backend (HTTPS/JWT)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126480" y="1801368"/>
            <a:ext cx="256032" cy="256032"/>
          </a:xfrm>
          <a:prstGeom prst="ellipse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26480" y="17739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②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455664" y="175564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</a:rPr>
              <a:t>Backend fetches ground truth from DB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126480" y="2459736"/>
            <a:ext cx="256032" cy="256032"/>
          </a:xfrm>
          <a:prstGeom prst="ellipse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26480" y="24323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③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455664" y="2414016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</a:rPr>
              <a:t>Audio + ground truth → AI Service for evaluation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126480" y="3118104"/>
            <a:ext cx="256032" cy="256032"/>
          </a:xfrm>
          <a:prstGeom prst="ellipse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26480" y="30906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④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455664" y="3072384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</a:rPr>
              <a:t>AI returns score + feedback → Backend saves to DB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126480" y="3776472"/>
            <a:ext cx="256032" cy="256032"/>
          </a:xfrm>
          <a:prstGeom prst="ellipse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26480" y="37490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⑤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455664" y="373075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</a:rPr>
              <a:t>Result sent to Mobile App → feedback shown to child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1097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272D"/>
                </a:solidFill>
              </a:rPr>
              <a:t>AIU.</a:t>
            </a:r>
            <a:r>
              <a:rPr lang="en-US" sz="1000" b="1" dirty="0">
                <a:solidFill>
                  <a:srgbClr val="1B2A6B"/>
                </a:solidFill>
              </a:rPr>
              <a:t>  ALAMEIN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228600" y="347472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1B2A6B"/>
                </a:solidFill>
              </a:rPr>
              <a:t>INTERNATIONAL UNIVERSITY</a:t>
            </a:r>
            <a:endParaRPr lang="en-US" sz="650" dirty="0"/>
          </a:p>
        </p:txBody>
      </p:sp>
      <p:sp>
        <p:nvSpPr>
          <p:cNvPr id="4" name="Shape 2"/>
          <p:cNvSpPr/>
          <p:nvPr/>
        </p:nvSpPr>
        <p:spPr>
          <a:xfrm>
            <a:off x="228600" y="521208"/>
            <a:ext cx="2286000" cy="0"/>
          </a:xfrm>
          <a:prstGeom prst="line">
            <a:avLst/>
          </a:prstGeom>
          <a:noFill/>
          <a:ln w="15240">
            <a:solidFill>
              <a:srgbClr val="1B2A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95728" y="457200"/>
            <a:ext cx="118872" cy="118872"/>
          </a:xfrm>
          <a:prstGeom prst="ellipse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651760" y="9144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>
                <a:solidFill>
                  <a:srgbClr val="002060"/>
                </a:solidFill>
                <a:ea typeface="+mn-lt"/>
                <a:cs typeface="+mn-lt"/>
              </a:rPr>
              <a:t>Implementation</a:t>
            </a:r>
            <a:endParaRPr lang="en-US" sz="4000">
              <a:ea typeface="Calibri"/>
              <a:cs typeface="Calibri"/>
            </a:endParaRPr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8B1A2B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77316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Shape Your Own Identity, The Future is Yours.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0" y="477316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</a:rPr>
              <a:t>www.aiu.edu.eg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321040" y="4251960"/>
            <a:ext cx="1280160" cy="1280160"/>
          </a:xfrm>
          <a:prstGeom prst="ellipse">
            <a:avLst/>
          </a:prstGeom>
          <a:solidFill>
            <a:srgbClr val="C0272D">
              <a:alpha val="85000"/>
            </a:srgbClr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41080" y="4526280"/>
            <a:ext cx="914400" cy="914400"/>
          </a:xfrm>
          <a:prstGeom prst="ellipse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749808"/>
            <a:ext cx="1261872" cy="2011680"/>
          </a:xfrm>
          <a:prstGeom prst="roundRect">
            <a:avLst>
              <a:gd name="adj" fmla="val 5072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635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93192" y="8229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93192" y="1170432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Audio Input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93192" y="1627632"/>
            <a:ext cx="1115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DDDDD"/>
                </a:solidFill>
              </a:rPr>
              <a:t>Child speaks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DDDDD"/>
                </a:solidFill>
              </a:rPr>
              <a:t>16 kHz mono WAV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618488" y="1664208"/>
            <a:ext cx="109728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37360" y="749808"/>
            <a:ext cx="1261872" cy="2011680"/>
          </a:xfrm>
          <a:prstGeom prst="roundRect">
            <a:avLst>
              <a:gd name="adj" fmla="val 5072"/>
            </a:avLst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  <a:effectLst>
            <a:outerShdw blurRad="635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810512" y="8229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810512" y="1170432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Preprocessing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1627632"/>
            <a:ext cx="1115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DDDDD"/>
                </a:solidFill>
              </a:rPr>
              <a:t>Decode + resample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DDDDD"/>
                </a:solidFill>
              </a:rPr>
              <a:t>libsndfile / ffmpeg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035808" y="1664208"/>
            <a:ext cx="109728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54680" y="749808"/>
            <a:ext cx="1261872" cy="2011680"/>
          </a:xfrm>
          <a:prstGeom prst="roundRect">
            <a:avLst>
              <a:gd name="adj" fmla="val 5072"/>
            </a:avLst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  <a:effectLst>
            <a:outerShdw blurRad="635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227832" y="8229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227832" y="1170432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Wav2Vec2-BERT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Inference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227832" y="1627632"/>
            <a:ext cx="1115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DDDDD"/>
                </a:solidFill>
              </a:rPr>
              <a:t>Fine-tuned MSA model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DDDDD"/>
                </a:solidFill>
              </a:rPr>
              <a:t>(from Quran Muaalem)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453128" y="1664208"/>
            <a:ext cx="109728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0" y="749808"/>
            <a:ext cx="1261872" cy="2011680"/>
          </a:xfrm>
          <a:prstGeom prst="roundRect">
            <a:avLst>
              <a:gd name="adj" fmla="val 5072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  <a:effectLst>
            <a:outerShdw blurRad="635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645152" y="8229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645152" y="1170432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CTC Decode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645152" y="1627632"/>
            <a:ext cx="1115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DDDDD"/>
                </a:solidFill>
              </a:rPr>
              <a:t>Phoneme sequence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DDDDD"/>
                </a:solidFill>
              </a:rPr>
              <a:t>e.g. د َ ر َ س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870448" y="1664208"/>
            <a:ext cx="109728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89320" y="749808"/>
            <a:ext cx="1261872" cy="2011680"/>
          </a:xfrm>
          <a:prstGeom prst="roundRect">
            <a:avLst>
              <a:gd name="adj" fmla="val 5072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  <a:effectLst>
            <a:outerShdw blurRad="635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062472" y="8229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062472" y="1170432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Compare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062472" y="1627632"/>
            <a:ext cx="1115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DDDDD"/>
                </a:solidFill>
              </a:rPr>
              <a:t>vs. Ground Truth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DDDDD"/>
                </a:solidFill>
              </a:rPr>
              <a:t>phoneme sequence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7287768" y="1664208"/>
            <a:ext cx="109728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406640" y="749808"/>
            <a:ext cx="1261872" cy="2011680"/>
          </a:xfrm>
          <a:prstGeom prst="roundRect">
            <a:avLst>
              <a:gd name="adj" fmla="val 5072"/>
            </a:avLst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  <a:effectLst>
            <a:outerShdw blurRad="635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479792" y="8229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479792" y="1170432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Result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479792" y="1627632"/>
            <a:ext cx="1115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DDDDD"/>
                </a:solidFill>
              </a:rPr>
              <a:t>Score + Passed/Failed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DDDDD"/>
                </a:solidFill>
              </a:rPr>
              <a:t>+ Audio Feedback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20040" y="2926080"/>
            <a:ext cx="8503920" cy="914400"/>
          </a:xfrm>
          <a:prstGeom prst="roundRect">
            <a:avLst>
              <a:gd name="adj" fmla="val 7000"/>
            </a:avLst>
          </a:prstGeom>
          <a:solidFill>
            <a:srgbClr val="1B2A6B">
              <a:alpha val="92000"/>
            </a:srgbClr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2971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B84B"/>
                </a:solidFill>
              </a:rPr>
              <a:t>Model Adaptation: Quran Muaalem (obadx/muaalem-model-v3_2)  →  Fine-tuned for Modern Standard Arabic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57200" y="32735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Base model: </a:t>
            </a:r>
            <a:r>
              <a:rPr lang="en-US" sz="950" dirty="0">
                <a:solidFill>
                  <a:srgbClr val="CCCCCC"/>
                </a:solidFill>
              </a:rPr>
              <a:t>Wav2Vec2-BERT, 53k h multilingual speech  </a:t>
            </a:r>
            <a:r>
              <a:rPr lang="en-US" sz="950" b="1" dirty="0">
                <a:solidFill>
                  <a:srgbClr val="FFFFFF"/>
                </a:solidFill>
              </a:rPr>
              <a:t>  •  CTC heads: </a:t>
            </a:r>
            <a:r>
              <a:rPr lang="en-US" sz="950" dirty="0">
                <a:solidFill>
                  <a:srgbClr val="CCCCCC"/>
                </a:solidFill>
              </a:rPr>
              <a:t>43 → 35 classes (MSA scope)  </a:t>
            </a:r>
            <a:r>
              <a:rPr lang="en-US" sz="950" b="1" dirty="0">
                <a:solidFill>
                  <a:srgbClr val="FFFFFF"/>
                </a:solidFill>
              </a:rPr>
              <a:t>  •  Target: </a:t>
            </a:r>
            <a:r>
              <a:rPr lang="en-US" sz="950" dirty="0">
                <a:solidFill>
                  <a:srgbClr val="CCCCCC"/>
                </a:solidFill>
              </a:rPr>
              <a:t>≥ 80% pronunciation accuracy  </a:t>
            </a:r>
            <a:r>
              <a:rPr lang="en-US" sz="950" b="1" dirty="0">
                <a:solidFill>
                  <a:srgbClr val="FFFFFF"/>
                </a:solidFill>
              </a:rPr>
              <a:t>  •  Response: </a:t>
            </a:r>
            <a:r>
              <a:rPr lang="en-US" sz="950" dirty="0">
                <a:solidFill>
                  <a:srgbClr val="CCCCCC"/>
                </a:solidFill>
              </a:rPr>
              <a:t>≤ 2 seconds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20040" y="3931920"/>
            <a:ext cx="1965960" cy="685800"/>
          </a:xfrm>
          <a:prstGeom prst="roundRect">
            <a:avLst>
              <a:gd name="adj" fmla="val 6667"/>
            </a:avLst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393192" y="396849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 80%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393192" y="42611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Transcription Accuracy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2441448" y="3931920"/>
            <a:ext cx="1965960" cy="685800"/>
          </a:xfrm>
          <a:prstGeom prst="roundRect">
            <a:avLst>
              <a:gd name="adj" fmla="val 6667"/>
            </a:avLst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2514600" y="396849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 80%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2514600" y="42611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Correct/Incorrect Classification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562856" y="3931920"/>
            <a:ext cx="1965960" cy="685800"/>
          </a:xfrm>
          <a:prstGeom prst="roundRect">
            <a:avLst>
              <a:gd name="adj" fmla="val 666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4636008" y="396849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 90%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4636008" y="42611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GT Comparison Success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6684264" y="3931920"/>
            <a:ext cx="1965960" cy="685800"/>
          </a:xfrm>
          <a:prstGeom prst="roundRect">
            <a:avLst>
              <a:gd name="adj" fmla="val 6667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6757416" y="396849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≤ 2 sec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757416" y="42611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Avg Response Time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1097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272D"/>
                </a:solidFill>
              </a:rPr>
              <a:t>AIU.</a:t>
            </a:r>
            <a:r>
              <a:rPr lang="en-US" sz="1000" b="1" dirty="0">
                <a:solidFill>
                  <a:srgbClr val="1B2A6B"/>
                </a:solidFill>
              </a:rPr>
              <a:t>  ALAMEIN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228600" y="347472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1B2A6B"/>
                </a:solidFill>
              </a:rPr>
              <a:t>INTERNATIONAL UNIVERSITY</a:t>
            </a:r>
            <a:endParaRPr lang="en-US" sz="650" dirty="0"/>
          </a:p>
        </p:txBody>
      </p:sp>
      <p:sp>
        <p:nvSpPr>
          <p:cNvPr id="4" name="Shape 2"/>
          <p:cNvSpPr/>
          <p:nvPr/>
        </p:nvSpPr>
        <p:spPr>
          <a:xfrm>
            <a:off x="228600" y="521208"/>
            <a:ext cx="2286000" cy="0"/>
          </a:xfrm>
          <a:prstGeom prst="line">
            <a:avLst/>
          </a:prstGeom>
          <a:noFill/>
          <a:ln w="15240">
            <a:solidFill>
              <a:srgbClr val="1B2A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95728" y="457200"/>
            <a:ext cx="118872" cy="118872"/>
          </a:xfrm>
          <a:prstGeom prst="ellipse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651760" y="9144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1B2A6B"/>
                </a:solidFill>
                <a:latin typeface="Cambria"/>
                <a:ea typeface="Cambria"/>
                <a:cs typeface="Cambria" pitchFamily="34" charset="-120"/>
              </a:rPr>
              <a:t>Prototype</a:t>
            </a:r>
            <a:endParaRPr lang="en-US" sz="26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8B1A2B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77316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Shape Your Own Identity, The Future is Yours.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0" y="477316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</a:rPr>
              <a:t>www.aiu.edu.eg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321040" y="4251960"/>
            <a:ext cx="1280160" cy="1280160"/>
          </a:xfrm>
          <a:prstGeom prst="ellipse">
            <a:avLst/>
          </a:prstGeom>
          <a:solidFill>
            <a:srgbClr val="C0272D">
              <a:alpha val="85000"/>
            </a:srgbClr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41080" y="4526280"/>
            <a:ext cx="914400" cy="914400"/>
          </a:xfrm>
          <a:prstGeom prst="ellipse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74980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6B"/>
                </a:solidFill>
              </a:rPr>
              <a:t>Technology Stack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1097280"/>
            <a:ext cx="3840480" cy="502920"/>
          </a:xfrm>
          <a:prstGeom prst="roundRect">
            <a:avLst>
              <a:gd name="adj" fmla="val 9091"/>
            </a:avLst>
          </a:prstGeom>
          <a:solidFill>
            <a:srgbClr val="1B2A6B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11247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📱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86384" y="112471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B84B"/>
                </a:solidFill>
              </a:rPr>
              <a:t>Mobile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86384" y="131673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DDDDD"/>
                </a:solidFill>
              </a:rPr>
              <a:t>React Native / Mobile PWA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0040" y="1691640"/>
            <a:ext cx="3840480" cy="502920"/>
          </a:xfrm>
          <a:prstGeom prst="roundRect">
            <a:avLst>
              <a:gd name="adj" fmla="val 9091"/>
            </a:avLst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1719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⚙️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86384" y="171907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A6B"/>
                </a:solidFill>
              </a:rPr>
              <a:t>Backend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86384" y="191109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Node.js + Express + Prisma ORM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0040" y="2286000"/>
            <a:ext cx="3840480" cy="502920"/>
          </a:xfrm>
          <a:prstGeom prst="roundRect">
            <a:avLst>
              <a:gd name="adj" fmla="val 9091"/>
            </a:avLst>
          </a:prstGeom>
          <a:solidFill>
            <a:srgbClr val="1B2A6B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23134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🗄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86384" y="231343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B84B"/>
                </a:solidFill>
              </a:rPr>
              <a:t>Database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86384" y="250545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DDDDD"/>
                </a:solidFill>
              </a:rPr>
              <a:t>PostgreSQL (relational, structured)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0040" y="2880360"/>
            <a:ext cx="3840480" cy="502920"/>
          </a:xfrm>
          <a:prstGeom prst="roundRect">
            <a:avLst>
              <a:gd name="adj" fmla="val 9091"/>
            </a:avLst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29077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🤖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86384" y="290779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A6B"/>
                </a:solidFill>
              </a:rPr>
              <a:t>AI Service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86384" y="309981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Python + FastAPI + Wav2Vec2-BERT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20040" y="3474720"/>
            <a:ext cx="3840480" cy="502920"/>
          </a:xfrm>
          <a:prstGeom prst="roundRect">
            <a:avLst>
              <a:gd name="adj" fmla="val 9091"/>
            </a:avLst>
          </a:prstGeom>
          <a:solidFill>
            <a:srgbClr val="1B2A6B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4048" y="3502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🛡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86384" y="350215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B84B"/>
                </a:solidFill>
              </a:rPr>
              <a:t>Security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86384" y="369417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DDDDD"/>
                </a:solidFill>
              </a:rPr>
              <a:t>JWT + HTTPS/TLS + bcrypt + rate limiting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572000" y="74980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6B"/>
                </a:solidFill>
              </a:rPr>
              <a:t>Prototype Screens (GP1)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0" y="1143000"/>
            <a:ext cx="109728" cy="109728"/>
          </a:xfrm>
          <a:prstGeom prst="ellipse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108813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login / register / email verification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572000" y="1490472"/>
            <a:ext cx="109728" cy="109728"/>
          </a:xfrm>
          <a:prstGeom prst="ellipse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14356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Child profile creation &amp; placement test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572000" y="1837944"/>
            <a:ext cx="109728" cy="109728"/>
          </a:xfrm>
          <a:prstGeom prst="ellipse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0" y="17830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Home screen / level map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572000" y="2185416"/>
            <a:ext cx="109728" cy="109728"/>
          </a:xfrm>
          <a:prstGeom prst="ellipse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21305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Letter lesson + audio playback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572000" y="2532888"/>
            <a:ext cx="109728" cy="109728"/>
          </a:xfrm>
          <a:prstGeom prst="ellipse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54880" y="247802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Pronunciation recording &amp; evaluation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572000" y="2880360"/>
            <a:ext cx="109728" cy="109728"/>
          </a:xfrm>
          <a:prstGeom prst="ellipse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54880" y="282549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Quiz &amp; result screens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572000" y="3227832"/>
            <a:ext cx="109728" cy="109728"/>
          </a:xfrm>
          <a:prstGeom prst="ellipse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54880" y="31729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Stars / badges / rewards display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572000" y="3575304"/>
            <a:ext cx="109728" cy="109728"/>
          </a:xfrm>
          <a:prstGeom prst="ellipse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54880" y="35204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Parent progress dashboard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572000" y="3922776"/>
            <a:ext cx="109728" cy="109728"/>
          </a:xfrm>
          <a:prstGeom prst="ellipse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54880" y="38679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Settings &amp; privacy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572000" y="4270248"/>
            <a:ext cx="109728" cy="109728"/>
          </a:xfrm>
          <a:prstGeom prst="ellipse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54880" y="421538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Admin content management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1097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272D"/>
                </a:solidFill>
              </a:rPr>
              <a:t>AIU.</a:t>
            </a:r>
            <a:r>
              <a:rPr lang="en-US" sz="1000" b="1" dirty="0">
                <a:solidFill>
                  <a:srgbClr val="1B2A6B"/>
                </a:solidFill>
              </a:rPr>
              <a:t>  ALAMEIN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228600" y="347472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1B2A6B"/>
                </a:solidFill>
              </a:rPr>
              <a:t>INTERNATIONAL UNIVERSITY</a:t>
            </a:r>
            <a:endParaRPr lang="en-US" sz="650" dirty="0"/>
          </a:p>
        </p:txBody>
      </p:sp>
      <p:sp>
        <p:nvSpPr>
          <p:cNvPr id="4" name="Shape 2"/>
          <p:cNvSpPr/>
          <p:nvPr/>
        </p:nvSpPr>
        <p:spPr>
          <a:xfrm>
            <a:off x="228600" y="521208"/>
            <a:ext cx="2286000" cy="0"/>
          </a:xfrm>
          <a:prstGeom prst="line">
            <a:avLst/>
          </a:prstGeom>
          <a:noFill/>
          <a:ln w="15240">
            <a:solidFill>
              <a:srgbClr val="1B2A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95728" y="457200"/>
            <a:ext cx="118872" cy="118872"/>
          </a:xfrm>
          <a:prstGeom prst="ellipse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651760" y="9144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Plan &amp; Future Work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8B1A2B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77316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Shape Your Own Identity, The Future is Yours.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0" y="477316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</a:rPr>
              <a:t>www.aiu.edu.eg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321040" y="4251960"/>
            <a:ext cx="1280160" cy="1280160"/>
          </a:xfrm>
          <a:prstGeom prst="ellipse">
            <a:avLst/>
          </a:prstGeom>
          <a:solidFill>
            <a:srgbClr val="C0272D">
              <a:alpha val="85000"/>
            </a:srgbClr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41080" y="4526280"/>
            <a:ext cx="914400" cy="914400"/>
          </a:xfrm>
          <a:prstGeom prst="ellipse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74980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6B"/>
                </a:solidFill>
              </a:rPr>
              <a:t>GP1 Evaluation Success Criteria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1115568"/>
            <a:ext cx="4206240" cy="566928"/>
          </a:xfrm>
          <a:prstGeom prst="roundRect">
            <a:avLst>
              <a:gd name="adj" fmla="val 8065"/>
            </a:avLst>
          </a:prstGeom>
          <a:solidFill>
            <a:srgbClr val="F0F4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1161288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6B"/>
                </a:solidFill>
              </a:rPr>
              <a:t>Functional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8912" y="1362456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Child can complete ≥1 full level; profiles save correctly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0040" y="1773936"/>
            <a:ext cx="4206240" cy="566928"/>
          </a:xfrm>
          <a:prstGeom prst="roundRect">
            <a:avLst>
              <a:gd name="adj" fmla="val 8065"/>
            </a:avLst>
          </a:prstGeom>
          <a:solidFill>
            <a:srgbClr val="F9F9F9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1819656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6B"/>
                </a:solidFill>
              </a:rPr>
              <a:t>AI Performance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38912" y="202082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≥80% transcription accuracy; ≥90% GT comparison; ≤2s response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20040" y="2432304"/>
            <a:ext cx="4206240" cy="566928"/>
          </a:xfrm>
          <a:prstGeom prst="roundRect">
            <a:avLst>
              <a:gd name="adj" fmla="val 8065"/>
            </a:avLst>
          </a:prstGeom>
          <a:solidFill>
            <a:srgbClr val="F0F4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2478024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6B"/>
                </a:solidFill>
              </a:rPr>
              <a:t>User Experience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38912" y="267919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Lesson completion without help ≥80%; 2–5 min avg lesson time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20040" y="3090672"/>
            <a:ext cx="4206240" cy="566928"/>
          </a:xfrm>
          <a:prstGeom prst="roundRect">
            <a:avLst>
              <a:gd name="adj" fmla="val 8065"/>
            </a:avLst>
          </a:prstGeom>
          <a:solidFill>
            <a:srgbClr val="F9F9F9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313639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6B"/>
                </a:solidFill>
              </a:rPr>
              <a:t>System Performance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38912" y="333756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≥95% API success rate; stable performance, minimal crashes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0040" y="3749040"/>
            <a:ext cx="4206240" cy="566928"/>
          </a:xfrm>
          <a:prstGeom prst="roundRect">
            <a:avLst>
              <a:gd name="adj" fmla="val 8065"/>
            </a:avLst>
          </a:prstGeom>
          <a:solidFill>
            <a:srgbClr val="F0F4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" y="379476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6B"/>
                </a:solidFill>
              </a:rPr>
              <a:t>Security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38912" y="399592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Auth enforced; child data secured; API endpoints validated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846320" y="74980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6B"/>
                </a:solidFill>
              </a:rPr>
              <a:t>Future Work (GP2)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46320" y="1115568"/>
            <a:ext cx="3977640" cy="347472"/>
          </a:xfrm>
          <a:prstGeom prst="roundRect">
            <a:avLst>
              <a:gd name="adj" fmla="val 13158"/>
            </a:avLst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83480" y="117043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🚀  Full mobile app implementation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846320" y="1545336"/>
            <a:ext cx="3977640" cy="347472"/>
          </a:xfrm>
          <a:prstGeom prst="roundRect">
            <a:avLst>
              <a:gd name="adj" fmla="val 13158"/>
            </a:avLst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83480" y="160020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🔗  Complete AI service backend integration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846320" y="1975104"/>
            <a:ext cx="3977640" cy="347472"/>
          </a:xfrm>
          <a:prstGeom prst="roundRect">
            <a:avLst>
              <a:gd name="adj" fmla="val 13158"/>
            </a:avLst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83480" y="202996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📊  Full parent/teacher dashboard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846320" y="2404872"/>
            <a:ext cx="3977640" cy="347472"/>
          </a:xfrm>
          <a:prstGeom prst="roundRect">
            <a:avLst>
              <a:gd name="adj" fmla="val 13158"/>
            </a:avLst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83480" y="245973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🎓  Advanced AI personalization &amp; adaptive paths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846320" y="2834640"/>
            <a:ext cx="3977640" cy="347472"/>
          </a:xfrm>
          <a:prstGeom prst="roundRect">
            <a:avLst>
              <a:gd name="adj" fmla="val 13158"/>
            </a:avLst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83480" y="288950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🎙  AI voice companion (audio assistant)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846320" y="3264408"/>
            <a:ext cx="3977640" cy="347472"/>
          </a:xfrm>
          <a:prstGeom prst="roundRect">
            <a:avLst>
              <a:gd name="adj" fmla="val 13158"/>
            </a:avLst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83480" y="331927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🌐  Web platform expansion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846320" y="3694176"/>
            <a:ext cx="3977640" cy="347472"/>
          </a:xfrm>
          <a:prstGeom prst="roundRect">
            <a:avLst>
              <a:gd name="adj" fmla="val 13158"/>
            </a:avLst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83480" y="374904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🧪  User testing with real children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846320" y="4123944"/>
            <a:ext cx="3977640" cy="347472"/>
          </a:xfrm>
          <a:prstGeom prst="roundRect">
            <a:avLst>
              <a:gd name="adj" fmla="val 13158"/>
            </a:avLst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83480" y="417880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📅  Daily streaks &amp; advanced gamification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A3AA715D-A9CF-93DF-5656-AE1AF4AD0B45}"/>
              </a:ext>
            </a:extLst>
          </p:cNvPr>
          <p:cNvSpPr/>
          <p:nvPr/>
        </p:nvSpPr>
        <p:spPr>
          <a:xfrm>
            <a:off x="228600" y="1097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272D"/>
                </a:solidFill>
              </a:rPr>
              <a:t>AIU.</a:t>
            </a:r>
            <a:r>
              <a:rPr lang="en-US" sz="1000" b="1" dirty="0">
                <a:solidFill>
                  <a:srgbClr val="1B2A6B"/>
                </a:solidFill>
              </a:rPr>
              <a:t>  ALAMEIN</a:t>
            </a:r>
            <a:endParaRPr lang="en-US" sz="13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3008CCC1-F92E-6A4E-9C40-078810551D77}"/>
              </a:ext>
            </a:extLst>
          </p:cNvPr>
          <p:cNvSpPr/>
          <p:nvPr/>
        </p:nvSpPr>
        <p:spPr>
          <a:xfrm>
            <a:off x="228600" y="347472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1B2A6B"/>
                </a:solidFill>
              </a:rPr>
              <a:t>INTERNATIONAL UNIVERSITY</a:t>
            </a:r>
            <a:endParaRPr lang="en-US" sz="650" dirty="0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BF98CDC8-42C8-D423-BDBC-76C519DD2664}"/>
              </a:ext>
            </a:extLst>
          </p:cNvPr>
          <p:cNvSpPr/>
          <p:nvPr/>
        </p:nvSpPr>
        <p:spPr>
          <a:xfrm>
            <a:off x="228600" y="521208"/>
            <a:ext cx="2286000" cy="0"/>
          </a:xfrm>
          <a:prstGeom prst="line">
            <a:avLst/>
          </a:prstGeom>
          <a:noFill/>
          <a:ln w="15240">
            <a:solidFill>
              <a:srgbClr val="1B2A6B"/>
            </a:solidFill>
            <a:prstDash val="solid"/>
          </a:ln>
        </p:spPr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BA12CE22-03C0-9172-02F8-E025D83D1428}"/>
              </a:ext>
            </a:extLst>
          </p:cNvPr>
          <p:cNvSpPr/>
          <p:nvPr/>
        </p:nvSpPr>
        <p:spPr>
          <a:xfrm>
            <a:off x="2395728" y="457200"/>
            <a:ext cx="118872" cy="118872"/>
          </a:xfrm>
          <a:prstGeom prst="ellipse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9417585A-07CC-45BE-093D-C97EF762C5D1}"/>
              </a:ext>
            </a:extLst>
          </p:cNvPr>
          <p:cNvSpPr/>
          <p:nvPr/>
        </p:nvSpPr>
        <p:spPr>
          <a:xfrm>
            <a:off x="2651760" y="9144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00" b="1">
                <a:solidFill>
                  <a:srgbClr val="1B2A6B"/>
                </a:solidFill>
                <a:latin typeface="Cambria"/>
                <a:ea typeface="Cambria"/>
              </a:rPr>
              <a:t>Conclusion</a:t>
            </a:r>
            <a:endParaRPr lang="en-US"/>
          </a:p>
        </p:txBody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3798B8E9-CC59-5B9A-D3FC-B26FD603DD66}"/>
              </a:ext>
            </a:extLst>
          </p:cNvPr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8B1A2B"/>
          </a:solidFill>
          <a:ln/>
        </p:spPr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1516ED1D-0CF1-CC89-FCCB-C474BDDFAAED}"/>
              </a:ext>
            </a:extLst>
          </p:cNvPr>
          <p:cNvSpPr/>
          <p:nvPr/>
        </p:nvSpPr>
        <p:spPr>
          <a:xfrm>
            <a:off x="274320" y="477316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Shape Your Own Identity, The Future is Yours.</a:t>
            </a:r>
            <a:endParaRPr lang="en-US" sz="900" dirty="0"/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53FCBAA9-E055-3D83-777A-D34158A429DA}"/>
              </a:ext>
            </a:extLst>
          </p:cNvPr>
          <p:cNvSpPr/>
          <p:nvPr/>
        </p:nvSpPr>
        <p:spPr>
          <a:xfrm>
            <a:off x="6858000" y="477316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</a:rPr>
              <a:t>www.aiu.edu.eg</a:t>
            </a:r>
            <a:endParaRPr lang="en-US" sz="900" dirty="0"/>
          </a:p>
        </p:txBody>
      </p:sp>
      <p:sp>
        <p:nvSpPr>
          <p:cNvPr id="19" name="Shape 8">
            <a:extLst>
              <a:ext uri="{FF2B5EF4-FFF2-40B4-BE49-F238E27FC236}">
                <a16:creationId xmlns:a16="http://schemas.microsoft.com/office/drawing/2014/main" id="{478BDDD8-7963-1E52-19F6-A3A5E0682FF8}"/>
              </a:ext>
            </a:extLst>
          </p:cNvPr>
          <p:cNvSpPr/>
          <p:nvPr/>
        </p:nvSpPr>
        <p:spPr>
          <a:xfrm>
            <a:off x="8321040" y="4251960"/>
            <a:ext cx="1280160" cy="1280160"/>
          </a:xfrm>
          <a:prstGeom prst="ellipse">
            <a:avLst/>
          </a:prstGeom>
          <a:solidFill>
            <a:srgbClr val="C0272D">
              <a:alpha val="85000"/>
            </a:srgbClr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21" name="Shape 9">
            <a:extLst>
              <a:ext uri="{FF2B5EF4-FFF2-40B4-BE49-F238E27FC236}">
                <a16:creationId xmlns:a16="http://schemas.microsoft.com/office/drawing/2014/main" id="{48715FA7-8A0F-F5E4-AD85-87CDB0E2496C}"/>
              </a:ext>
            </a:extLst>
          </p:cNvPr>
          <p:cNvSpPr/>
          <p:nvPr/>
        </p:nvSpPr>
        <p:spPr>
          <a:xfrm>
            <a:off x="8641080" y="4526280"/>
            <a:ext cx="914400" cy="914400"/>
          </a:xfrm>
          <a:prstGeom prst="ellipse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0F6A2DEB-D9F9-EC05-0C83-FFACEB51DD87}"/>
              </a:ext>
            </a:extLst>
          </p:cNvPr>
          <p:cNvSpPr txBox="1"/>
          <p:nvPr/>
        </p:nvSpPr>
        <p:spPr>
          <a:xfrm>
            <a:off x="88948" y="789416"/>
            <a:ext cx="8027584" cy="37548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400" b="1">
                <a:solidFill>
                  <a:srgbClr val="1F1F1F"/>
                </a:solidFill>
                <a:ea typeface="+mn-lt"/>
                <a:cs typeface="+mn-lt"/>
              </a:rPr>
              <a:t>1. Project Purpose</a:t>
            </a:r>
            <a:endParaRPr lang="en-GB" sz="14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GB" sz="1400" dirty="0">
                <a:solidFill>
                  <a:srgbClr val="1F1F1F"/>
                </a:solidFill>
                <a:ea typeface="+mn-lt"/>
                <a:cs typeface="+mn-lt"/>
              </a:rPr>
              <a:t>To develop </a:t>
            </a:r>
            <a:r>
              <a:rPr lang="en-GB" sz="1400" b="1" dirty="0" err="1">
                <a:solidFill>
                  <a:srgbClr val="1F1F1F"/>
                </a:solidFill>
                <a:ea typeface="+mn-lt"/>
                <a:cs typeface="+mn-lt"/>
              </a:rPr>
              <a:t>Yantiq</a:t>
            </a:r>
            <a:r>
              <a:rPr lang="en-GB" sz="1400" dirty="0">
                <a:solidFill>
                  <a:srgbClr val="1F1F1F"/>
                </a:solidFill>
                <a:ea typeface="+mn-lt"/>
                <a:cs typeface="+mn-lt"/>
              </a:rPr>
              <a:t>, an AI-driven early Arabic tutor that shifts children from passive screen time to active learning through real-time pronunciation feedback.</a:t>
            </a:r>
            <a:endParaRPr lang="en-GB" sz="1400" dirty="0">
              <a:ea typeface="Calibri"/>
              <a:cs typeface="Calibri"/>
            </a:endParaRPr>
          </a:p>
          <a:p>
            <a:r>
              <a:rPr lang="en-GB" sz="1400" b="1">
                <a:solidFill>
                  <a:srgbClr val="1F1F1F"/>
                </a:solidFill>
                <a:ea typeface="+mn-lt"/>
                <a:cs typeface="+mn-lt"/>
              </a:rPr>
              <a:t>2. Key Contributions</a:t>
            </a:r>
            <a:endParaRPr lang="en-GB" sz="1400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GB" sz="1400" b="1" dirty="0">
                <a:solidFill>
                  <a:srgbClr val="1F1F1F"/>
                </a:solidFill>
                <a:ea typeface="+mn-lt"/>
                <a:cs typeface="+mn-lt"/>
              </a:rPr>
              <a:t>AI Innovation:</a:t>
            </a:r>
            <a:r>
              <a:rPr lang="en-GB" sz="1400" dirty="0">
                <a:solidFill>
                  <a:srgbClr val="1F1F1F"/>
                </a:solidFill>
                <a:ea typeface="+mn-lt"/>
                <a:cs typeface="+mn-lt"/>
              </a:rPr>
              <a:t> Successfully adapting a highly accurate Quranic speech model to evaluate children's Modern Standard Arabic (MSA).</a:t>
            </a:r>
            <a:endParaRPr lang="en-GB" sz="1400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GB" sz="1400" b="1">
                <a:solidFill>
                  <a:srgbClr val="1F1F1F"/>
                </a:solidFill>
                <a:ea typeface="+mn-lt"/>
                <a:cs typeface="+mn-lt"/>
              </a:rPr>
              <a:t>Structured Support:</a:t>
            </a:r>
            <a:r>
              <a:rPr lang="en-GB" sz="1400">
                <a:solidFill>
                  <a:srgbClr val="1F1F1F"/>
                </a:solidFill>
                <a:ea typeface="+mn-lt"/>
                <a:cs typeface="+mn-lt"/>
              </a:rPr>
              <a:t> Providing a stepwise reading curriculum (letters to sentences) paired with a dedicated guardian tracking system.</a:t>
            </a:r>
            <a:endParaRPr lang="en-GB" sz="1400" dirty="0">
              <a:ea typeface="Calibri"/>
              <a:cs typeface="Calibri"/>
            </a:endParaRPr>
          </a:p>
          <a:p>
            <a:r>
              <a:rPr lang="en-GB" sz="1400" b="1">
                <a:solidFill>
                  <a:srgbClr val="1F1F1F"/>
                </a:solidFill>
                <a:ea typeface="+mn-lt"/>
                <a:cs typeface="+mn-lt"/>
              </a:rPr>
              <a:t>3. Future Directions (GP2 Implementation)</a:t>
            </a:r>
            <a:endParaRPr lang="en-GB" sz="1400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GB" sz="1400" b="1">
                <a:solidFill>
                  <a:srgbClr val="1F1F1F"/>
                </a:solidFill>
                <a:ea typeface="+mn-lt"/>
                <a:cs typeface="+mn-lt"/>
              </a:rPr>
              <a:t>System Integration:</a:t>
            </a:r>
            <a:r>
              <a:rPr lang="en-GB" sz="1400">
                <a:solidFill>
                  <a:srgbClr val="1F1F1F"/>
                </a:solidFill>
                <a:ea typeface="+mn-lt"/>
                <a:cs typeface="+mn-lt"/>
              </a:rPr>
              <a:t> Connecting the mobile UI, the backend server, and the isolated AI inference service.</a:t>
            </a:r>
            <a:endParaRPr lang="en-GB" sz="1400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GB" sz="1400" b="1" dirty="0">
                <a:solidFill>
                  <a:srgbClr val="1F1F1F"/>
                </a:solidFill>
                <a:ea typeface="+mn-lt"/>
                <a:cs typeface="+mn-lt"/>
              </a:rPr>
              <a:t>Performance Targets:</a:t>
            </a:r>
            <a:r>
              <a:rPr lang="en-GB" sz="1400" dirty="0">
                <a:solidFill>
                  <a:srgbClr val="1F1F1F"/>
                </a:solidFill>
                <a:ea typeface="+mn-lt"/>
                <a:cs typeface="+mn-lt"/>
              </a:rPr>
              <a:t> Achieving an AI evaluation accuracy of ≥ 80% and maintaining a real-time feedback response of ≤ 2 seconds.</a:t>
            </a:r>
            <a:endParaRPr lang="en-GB" sz="1400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GB" sz="1400" b="1" dirty="0">
                <a:solidFill>
                  <a:srgbClr val="1F1F1F"/>
                </a:solidFill>
                <a:ea typeface="+mn-lt"/>
                <a:cs typeface="+mn-lt"/>
              </a:rPr>
              <a:t>User Validation:</a:t>
            </a:r>
            <a:r>
              <a:rPr lang="en-GB" sz="1400" dirty="0">
                <a:solidFill>
                  <a:srgbClr val="1F1F1F"/>
                </a:solidFill>
                <a:ea typeface="+mn-lt"/>
                <a:cs typeface="+mn-lt"/>
              </a:rPr>
              <a:t> Testing the MVP with children to validate gamification and feedback clarity.</a:t>
            </a:r>
            <a:endParaRPr lang="en-GB" sz="1400" dirty="0">
              <a:ea typeface="Calibri"/>
              <a:cs typeface="Calibri"/>
            </a:endParaRPr>
          </a:p>
          <a:p>
            <a:r>
              <a:rPr lang="en-GB" sz="1400" b="1">
                <a:solidFill>
                  <a:srgbClr val="1F1F1F"/>
                </a:solidFill>
                <a:ea typeface="+mn-lt"/>
                <a:cs typeface="+mn-lt"/>
              </a:rPr>
              <a:t>4. Practical Applications</a:t>
            </a:r>
            <a:endParaRPr lang="en-GB" sz="1400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GB" sz="1400">
                <a:solidFill>
                  <a:srgbClr val="1F1F1F"/>
                </a:solidFill>
                <a:ea typeface="+mn-lt"/>
                <a:cs typeface="+mn-lt"/>
              </a:rPr>
              <a:t>Serving as an essential home-learning tool for diaspora children and acting as a scalable phonetic assessment assistant in early childhood classrooms.</a:t>
            </a:r>
            <a:endParaRPr lang="en-GB" sz="1400" dirty="0">
              <a:ea typeface="Calibri"/>
              <a:cs typeface="Calibri"/>
            </a:endParaRPr>
          </a:p>
          <a:p>
            <a:pPr algn="l"/>
            <a:endParaRPr lang="en-GB" sz="14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595821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C0272D">
              <a:alpha val="85000"/>
            </a:srgbClr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182880"/>
            <a:ext cx="2011680" cy="2011680"/>
          </a:xfrm>
          <a:prstGeom prst="ellipse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3474720"/>
            <a:ext cx="2286000" cy="2286000"/>
          </a:xfrm>
          <a:prstGeom prst="ellipse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0" y="3931920"/>
            <a:ext cx="1371600" cy="1371600"/>
          </a:xfrm>
          <a:prstGeom prst="ellipse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828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0272D"/>
                </a:solidFill>
              </a:rPr>
              <a:t>AIU.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50292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B2A6B"/>
                </a:solidFill>
              </a:rPr>
              <a:t>ALAMEIN INTERNATIONAL UNIVERSITY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20040" y="109728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320040" y="190195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C027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20040" y="2487168"/>
            <a:ext cx="6217920" cy="2057400"/>
          </a:xfrm>
          <a:prstGeom prst="roundRect">
            <a:avLst>
              <a:gd name="adj" fmla="val 4444"/>
            </a:avLst>
          </a:prstGeom>
          <a:solidFill>
            <a:srgbClr val="1B2A6B">
              <a:alpha val="92000"/>
            </a:srgbClr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54203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B84B"/>
                </a:solidFill>
              </a:rPr>
              <a:t>Project Team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88036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Adam Rany Kamaleldin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880360" y="2880360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B84B"/>
                </a:solidFill>
              </a:rPr>
              <a:t>22101416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02920" y="328269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Mohamed Maged Medhat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880360" y="3282696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B84B"/>
                </a:solidFill>
              </a:rPr>
              <a:t>22100193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" y="368503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Mohamed Ahmed Fawzy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880360" y="3685032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B84B"/>
                </a:solidFill>
              </a:rPr>
              <a:t>22100881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566160" y="288036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Ahmed Khaled Fathy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943600" y="2880360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B84B"/>
                </a:solidFill>
              </a:rPr>
              <a:t>22100935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566160" y="328269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Abdelrhman Ahmed Elkomy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943600" y="3282696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B84B"/>
                </a:solidFill>
              </a:rPr>
              <a:t>22100945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02920" y="409651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CCCCC"/>
                </a:solidFill>
              </a:rPr>
              <a:t>Supervised by: Dr. Laila Shoukry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8B1A2B"/>
          </a:solidFill>
          <a:ln/>
        </p:spPr>
      </p:sp>
      <p:sp>
        <p:nvSpPr>
          <p:cNvPr id="24" name="Text 22"/>
          <p:cNvSpPr/>
          <p:nvPr/>
        </p:nvSpPr>
        <p:spPr>
          <a:xfrm>
            <a:off x="274320" y="477316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Shape Your Own Identity, The Future is Yours.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858000" y="477316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</a:rPr>
              <a:t>www.aiu.edu.eg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Yantiq - AI-Based Early Arabic Reading Tutor</dc:title>
  <dc:subject>PptxGenJS Presentation</dc:subject>
  <dc:creator>PptxGenJS</dc:creator>
  <cp:lastModifiedBy>PptxGenJS</cp:lastModifiedBy>
  <cp:revision>105</cp:revision>
  <dcterms:created xsi:type="dcterms:W3CDTF">2026-06-11T19:27:17Z</dcterms:created>
  <dcterms:modified xsi:type="dcterms:W3CDTF">2026-06-11T20:56:55Z</dcterms:modified>
</cp:coreProperties>
</file>