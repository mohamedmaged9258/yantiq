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1125" r:id="rId3"/>
    <p:sldId id="257" r:id="rId4"/>
    <p:sldId id="354" r:id="rId6"/>
    <p:sldId id="394" r:id="rId7"/>
    <p:sldId id="395" r:id="rId8"/>
    <p:sldId id="399" r:id="rId9"/>
    <p:sldId id="397" r:id="rId10"/>
    <p:sldId id="396" r:id="rId11"/>
    <p:sldId id="398" r:id="rId12"/>
    <p:sldId id="374" r:id="rId13"/>
    <p:sldId id="955" r:id="rId14"/>
    <p:sldId id="1126" r:id="rId15"/>
    <p:sldId id="952" r:id="rId16"/>
    <p:sldId id="953" r:id="rId17"/>
    <p:sldId id="403" r:id="rId18"/>
    <p:sldId id="950" r:id="rId19"/>
    <p:sldId id="951" r:id="rId20"/>
    <p:sldId id="404" r:id="rId21"/>
    <p:sldId id="956" r:id="rId22"/>
    <p:sldId id="1123" r:id="rId23"/>
  </p:sldIdLst>
  <p:sldSz cx="24384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7EC3"/>
    <a:srgbClr val="C7DFF2"/>
    <a:srgbClr val="CA2126"/>
    <a:srgbClr val="2D1263"/>
    <a:srgbClr val="0F0F6E"/>
    <a:srgbClr val="0E0F6E"/>
    <a:srgbClr val="CA2026"/>
    <a:srgbClr val="CB2126"/>
    <a:srgbClr val="0F106D"/>
    <a:srgbClr val="C81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-624" y="-90"/>
      </p:cViewPr>
      <p:guideLst>
        <p:guide orient="horz" pos="4314"/>
        <p:guide pos="76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A8E33-5D2D-46B0-9D81-22F3486EF52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83EF8-7E23-4133-AF55-377BF78649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DCF9E-5C32-42B2-BB1B-6EF1DA287186}" type="slidenum">
              <a:rPr lang="ar-EG" smtClean="0">
                <a:solidFill>
                  <a:prstClr val="black"/>
                </a:solidFill>
              </a:rPr>
            </a:fld>
            <a:endParaRPr lang="ar-EG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4258828"/>
            <a:ext cx="10501744" cy="2608409"/>
          </a:xfrm>
        </p:spPr>
        <p:txBody>
          <a:bodyPr anchor="b">
            <a:normAutofit/>
          </a:bodyPr>
          <a:lstStyle>
            <a:lvl1pPr algn="l">
              <a:defRPr sz="7200" b="1" baseline="0">
                <a:solidFill>
                  <a:srgbClr val="070768"/>
                </a:solidFill>
                <a:latin typeface="Aeonik TRIAL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799" y="7161069"/>
            <a:ext cx="10501745" cy="3311524"/>
          </a:xfrm>
        </p:spPr>
        <p:txBody>
          <a:bodyPr>
            <a:normAutofit/>
          </a:bodyPr>
          <a:lstStyle>
            <a:lvl1pPr marL="0" indent="0" algn="ctr">
              <a:buNone/>
              <a:defRPr sz="5400" b="1">
                <a:solidFill>
                  <a:srgbClr val="CA2126"/>
                </a:solidFill>
                <a:latin typeface="Aeonik TRIAL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064759"/>
            <a:ext cx="21031200" cy="1407104"/>
          </a:xfrm>
        </p:spPr>
        <p:txBody>
          <a:bodyPr>
            <a:normAutofit/>
          </a:bodyPr>
          <a:lstStyle>
            <a:lvl1pPr>
              <a:defRPr sz="6600" b="1">
                <a:solidFill>
                  <a:srgbClr val="11126E"/>
                </a:solidFill>
                <a:latin typeface="Aeonik TRIAL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4800">
                <a:latin typeface="Aeonik TRIAL"/>
              </a:defRPr>
            </a:lvl1pPr>
            <a:lvl2pPr>
              <a:defRPr lang="en-US" sz="4400" kern="1200" dirty="0">
                <a:solidFill>
                  <a:schemeClr val="tx1"/>
                </a:solidFill>
                <a:latin typeface="Aeonik TRIAL"/>
                <a:ea typeface="+mn-ea"/>
                <a:cs typeface="+mn-cs"/>
              </a:defRPr>
            </a:lvl2pPr>
            <a:lvl3pPr>
              <a:defRPr lang="en-US" sz="4000" kern="1200" dirty="0">
                <a:solidFill>
                  <a:schemeClr val="tx1"/>
                </a:solidFill>
                <a:latin typeface="Aeonik TRIAL"/>
                <a:ea typeface="+mn-ea"/>
                <a:cs typeface="+mn-cs"/>
              </a:defRPr>
            </a:lvl3pPr>
            <a:lvl4pPr>
              <a:defRPr lang="en-US" sz="3600" kern="1200" dirty="0">
                <a:solidFill>
                  <a:schemeClr val="tx1"/>
                </a:solidFill>
                <a:latin typeface="Aeonik TRIAL"/>
                <a:ea typeface="+mn-ea"/>
                <a:cs typeface="+mn-cs"/>
              </a:defRPr>
            </a:lvl4pPr>
            <a:lvl5pPr>
              <a:defRPr lang="en-US" sz="3600" kern="1200" dirty="0">
                <a:solidFill>
                  <a:schemeClr val="tx1"/>
                </a:solidFill>
                <a:latin typeface="Aeonik TRIAL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>
            <a:normAutofit/>
          </a:bodyPr>
          <a:lstStyle>
            <a:lvl1pPr algn="ctr">
              <a:defRPr sz="8800" b="1">
                <a:solidFill>
                  <a:srgbClr val="000061"/>
                </a:solidFill>
                <a:latin typeface="Aeonik TRIAL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>
            <a:normAutofit/>
          </a:bodyPr>
          <a:lstStyle>
            <a:lvl1pPr marL="0" indent="0" algn="ctr">
              <a:buNone/>
              <a:defRPr sz="6000" b="0">
                <a:solidFill>
                  <a:srgbClr val="C91D23"/>
                </a:solidFill>
                <a:latin typeface="Aeonik TRIAL"/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2E993-2C4A-4698-8E15-B21B6DF93C3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21155-9495-41D6-9070-34FA0CC99A7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484" y="5744445"/>
            <a:ext cx="1239328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400" b="1" dirty="0">
                <a:solidFill>
                  <a:schemeClr val="bg2">
                    <a:lumMod val="10000"/>
                  </a:schemeClr>
                </a:solidFill>
                <a:latin typeface="Aeonik TRIAL"/>
                <a:cs typeface="+mj-cs"/>
              </a:rPr>
              <a:t>Yantiq</a:t>
            </a:r>
            <a:endParaRPr lang="en-US" sz="6400" b="1" dirty="0">
              <a:solidFill>
                <a:schemeClr val="bg2">
                  <a:lumMod val="10000"/>
                </a:schemeClr>
              </a:solidFill>
              <a:latin typeface="Aeonik TRIAL"/>
              <a:cs typeface="+mj-cs"/>
            </a:endParaRPr>
          </a:p>
          <a:p>
            <a:pPr algn="ctr"/>
            <a:r>
              <a:rPr lang="en-US" sz="6400" dirty="0" smtClean="0">
                <a:solidFill>
                  <a:schemeClr val="bg2">
                    <a:lumMod val="10000"/>
                  </a:schemeClr>
                </a:solidFill>
                <a:latin typeface="Aeonik TRIAL"/>
                <a:cs typeface="+mj-cs"/>
              </a:rPr>
              <a:t>AI-Based Early Arabic Reading Tutor</a:t>
            </a:r>
            <a:r>
              <a:rPr lang="en-US" sz="6400" dirty="0">
                <a:solidFill>
                  <a:schemeClr val="bg2">
                    <a:lumMod val="10000"/>
                  </a:schemeClr>
                </a:solidFill>
                <a:latin typeface="Aeonik TRIAL"/>
                <a:cs typeface="+mj-cs"/>
              </a:rPr>
              <a:t> with Pronunciation Correction</a:t>
            </a:r>
            <a:endParaRPr lang="en-US" sz="6400" dirty="0">
              <a:solidFill>
                <a:schemeClr val="bg2">
                  <a:lumMod val="10000"/>
                </a:schemeClr>
              </a:solidFill>
              <a:latin typeface="Aeonik TRIAL"/>
              <a:cs typeface="+mj-cs"/>
            </a:endParaRPr>
          </a:p>
          <a:p>
            <a:pPr algn="ctr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eonik TRIAL"/>
                <a:cs typeface="+mj-cs"/>
              </a:rPr>
              <a:t>Mohamed Maged | Abdelrhman Ahmed | Ahmed Khaled | Adam Rani | Mohamed Ahmed</a:t>
            </a:r>
            <a:endParaRPr lang="en-US" sz="4000" dirty="0">
              <a:solidFill>
                <a:schemeClr val="bg2">
                  <a:lumMod val="10000"/>
                </a:schemeClr>
              </a:solidFill>
              <a:latin typeface="Aeonik TRIAL"/>
              <a:cs typeface="+mj-cs"/>
            </a:endParaRPr>
          </a:p>
          <a:p>
            <a:pPr algn="ctr"/>
            <a:r>
              <a:rPr lang="en-US" sz="4000" dirty="0" smtClean="0">
                <a:solidFill>
                  <a:schemeClr val="bg2">
                    <a:lumMod val="10000"/>
                  </a:schemeClr>
                </a:solidFill>
                <a:latin typeface="Aeonik TRIAL"/>
                <a:cs typeface="+mj-cs"/>
              </a:rPr>
              <a:t>Supervised by Dr. Laila Shoukry | June 2026</a:t>
            </a:r>
            <a:endParaRPr lang="en-US" sz="4000" dirty="0">
              <a:solidFill>
                <a:schemeClr val="bg2">
                  <a:lumMod val="10000"/>
                </a:schemeClr>
              </a:solidFill>
              <a:latin typeface="Aeonik TRIAL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612" y="188817"/>
            <a:ext cx="21031200" cy="1658718"/>
          </a:xfrm>
        </p:spPr>
        <p:txBody>
          <a:bodyPr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sz="6400" dirty="0">
                <a:solidFill>
                  <a:srgbClr val="002060"/>
                </a:solidFill>
              </a:rPr>
              <a:t>Outline</a:t>
            </a:r>
            <a:endParaRPr lang="ar-EG" sz="6400" b="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46683" y="2716682"/>
            <a:ext cx="17754211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/>
              </a:rPr>
              <a:t>Introduction and Motivation</a:t>
            </a:r>
            <a:endParaRPr lang="en-US" altLang="en-US" sz="5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/>
              </a:rPr>
              <a:t>Background</a:t>
            </a:r>
            <a:endParaRPr lang="en-US" altLang="en-US" sz="5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/>
              </a:rPr>
              <a:t>Problem</a:t>
            </a:r>
            <a:endParaRPr lang="en-US" altLang="en-US" sz="5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/>
              </a:rPr>
              <a:t>Literature Review</a:t>
            </a:r>
            <a:endParaRPr lang="en-US" altLang="en-US" sz="5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 smtClean="0">
                <a:latin typeface="Aeonik TRIAL"/>
              </a:rPr>
              <a:t>Available Solutions</a:t>
            </a:r>
            <a:endParaRPr lang="en-US" altLang="en-US" sz="5600" dirty="0" smtClean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 smtClean="0">
                <a:latin typeface="Aeonik TRIAL"/>
              </a:rPr>
              <a:t>Analysis, Requirements</a:t>
            </a:r>
            <a:endParaRPr lang="en-US" altLang="en-US" sz="5600" dirty="0" smtClean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 smtClean="0">
                <a:latin typeface="Aeonik TRIAL"/>
              </a:rPr>
              <a:t>Methodology </a:t>
            </a:r>
            <a:r>
              <a:rPr lang="en-US" altLang="en-US" sz="5600" dirty="0">
                <a:latin typeface="Aeonik TRIAL"/>
              </a:rPr>
              <a:t>and Design</a:t>
            </a:r>
            <a:endParaRPr lang="en-US" altLang="en-US" sz="5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/>
              </a:rPr>
              <a:t>Implementation</a:t>
            </a:r>
            <a:endParaRPr lang="en-US" altLang="en-US" sz="5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/>
              </a:rPr>
              <a:t>Evaluation and Results</a:t>
            </a:r>
            <a:endParaRPr lang="en-US" altLang="en-US" sz="5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5600" dirty="0">
                <a:latin typeface="Aeonik TRIAL"/>
              </a:rPr>
              <a:t>Future </a:t>
            </a:r>
            <a:r>
              <a:rPr lang="en-US" altLang="en-US" sz="5600" dirty="0" smtClean="0">
                <a:latin typeface="Aeonik TRIAL"/>
              </a:rPr>
              <a:t>Work (what will be completed second term)</a:t>
            </a:r>
            <a:endParaRPr lang="en-US" altLang="en-US" sz="5600" dirty="0">
              <a:latin typeface="Aeonik T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Introduction and Motivation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" name="T10"/>
          <p:cNvSpPr txBox="1"/>
          <p:nvPr/>
        </p:nvSpPr>
        <p:spPr>
          <a:xfrm>
            <a:off x="1800000" y="3100000"/>
            <a:ext cx="100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002060"/>
                </a:solidFill>
                <a:latin typeface="Aeonik TRIAL"/>
              </a:rPr>
              <a:t>The Challenge</a:t>
            </a:r>
            <a:endParaRPr lang="en-US" sz="28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11" name="Div11"/>
          <p:cNvSpPr/>
          <p:nvPr/>
        </p:nvSpPr>
        <p:spPr>
          <a:xfrm>
            <a:off x="1800000" y="3600000"/>
            <a:ext cx="10000000" cy="95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B12"/>
          <p:cNvSpPr txBox="1"/>
          <p:nvPr/>
        </p:nvSpPr>
        <p:spPr>
          <a:xfrm>
            <a:off x="1304925" y="3822065"/>
            <a:ext cx="10989945" cy="310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Millions of children learn Arabic as their primary literacy language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Arabic pronunciation is complex: small differences change meaning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Children aged 4-7 are at a critical window — early habits persist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Limited access to guided, real-time pronunciation correction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0" name="Bx20"/>
          <p:cNvSpPr/>
          <p:nvPr/>
        </p:nvSpPr>
        <p:spPr>
          <a:xfrm>
            <a:off x="12900000" y="3000000"/>
            <a:ext cx="9700000" cy="32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5400" b="1" dirty="0">
                <a:solidFill>
                  <a:srgbClr val="FFFFFF"/>
                </a:solidFill>
                <a:latin typeface="Aeonik TRIAL"/>
              </a:rPr>
              <a:t>Yantiq</a:t>
            </a:r>
            <a:endParaRPr lang="en-US" sz="54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800" dirty="0">
                <a:solidFill>
                  <a:srgbClr val="CADCFC"/>
                </a:solidFill>
                <a:latin typeface="Aeonik TRIAL"/>
              </a:rPr>
              <a:t>AI-Based Early Arabic Reading Tutor</a:t>
            </a:r>
            <a:endParaRPr lang="en-US" sz="2800" dirty="0">
              <a:solidFill>
                <a:srgbClr val="CADCFC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800" dirty="0">
                <a:solidFill>
                  <a:srgbClr val="CADCFC"/>
                </a:solidFill>
                <a:latin typeface="Aeonik TRIAL"/>
              </a:rPr>
              <a:t>with Pronunciation Correction</a:t>
            </a:r>
            <a:endParaRPr lang="en-US" sz="2800" dirty="0">
              <a:solidFill>
                <a:srgbClr val="CADCFC"/>
              </a:solidFill>
              <a:latin typeface="Aeonik TRIAL"/>
            </a:endParaRPr>
          </a:p>
        </p:txBody>
      </p:sp>
      <p:sp>
        <p:nvSpPr>
          <p:cNvPr id="21" name="Bx21"/>
          <p:cNvSpPr/>
          <p:nvPr/>
        </p:nvSpPr>
        <p:spPr>
          <a:xfrm>
            <a:off x="12900000" y="6400000"/>
            <a:ext cx="9700000" cy="1800000"/>
          </a:xfrm>
          <a:prstGeom prst="rect">
            <a:avLst/>
          </a:prstGeom>
          <a:solidFill>
            <a:srgbClr val="F7F8FC"/>
          </a:solidFill>
          <a:ln w="1905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dirty="0">
                <a:solidFill>
                  <a:srgbClr val="555555"/>
                </a:solidFill>
                <a:latin typeface="Aeonik TRIAL"/>
              </a:rPr>
              <a:t>Supervised by Dr. Laila Shoukry</a:t>
            </a:r>
            <a:endParaRPr lang="en-US" sz="2400" dirty="0">
              <a:solidFill>
                <a:srgbClr val="555555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333333"/>
                </a:solidFill>
                <a:latin typeface="Aeonik TRIAL"/>
              </a:rPr>
              <a:t>Mohamed Maged  |  Abdelrhman Ahmed  |  Ahmed Khaled</a:t>
            </a:r>
            <a:endParaRPr lang="en-US" sz="2000" dirty="0">
              <a:solidFill>
                <a:srgbClr val="333333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333333"/>
                </a:solidFill>
                <a:latin typeface="Aeonik TRIAL"/>
              </a:rPr>
              <a:t>Adam Rani  |  Mohamed Ahmed</a:t>
            </a:r>
            <a:endParaRPr lang="en-US" sz="2000" dirty="0">
              <a:solidFill>
                <a:srgbClr val="333333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Background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0" name="Bx100"/>
          <p:cNvSpPr/>
          <p:nvPr/>
        </p:nvSpPr>
        <p:spPr>
          <a:xfrm>
            <a:off x="1700000" y="3000000"/>
            <a:ext cx="101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Early Arabic Literacy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01" name="Bx101"/>
          <p:cNvSpPr/>
          <p:nvPr/>
        </p:nvSpPr>
        <p:spPr>
          <a:xfrm>
            <a:off x="1700000" y="3500000"/>
            <a:ext cx="10100000" cy="9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DDDDDD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Linking sounds, letters, and meaning for children aged 4-7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10" name="Bx110"/>
          <p:cNvSpPr/>
          <p:nvPr/>
        </p:nvSpPr>
        <p:spPr>
          <a:xfrm>
            <a:off x="12200000" y="3000000"/>
            <a:ext cx="101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800" b="1" dirty="0">
                <a:solidFill>
                  <a:srgbClr val="FFFFFF"/>
                </a:solidFill>
                <a:latin typeface="Aeonik TRIAL"/>
              </a:rPr>
              <a:t>Modern Standard Arabic (MSA)</a:t>
            </a:r>
            <a:endParaRPr lang="en-US" sz="28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1" name="Bx111"/>
          <p:cNvSpPr/>
          <p:nvPr/>
        </p:nvSpPr>
        <p:spPr>
          <a:xfrm>
            <a:off x="12200000" y="3500000"/>
            <a:ext cx="10100000" cy="9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DDDDDD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Formal Arabic used in education, media, and official contexts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20" name="Bx120"/>
          <p:cNvSpPr/>
          <p:nvPr/>
        </p:nvSpPr>
        <p:spPr>
          <a:xfrm>
            <a:off x="1700000" y="4800000"/>
            <a:ext cx="101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ASR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21" name="Bx121"/>
          <p:cNvSpPr/>
          <p:nvPr/>
        </p:nvSpPr>
        <p:spPr>
          <a:xfrm>
            <a:off x="1700000" y="5300000"/>
            <a:ext cx="10100000" cy="9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DDDDDD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Automatic Speech Recognition: converts spoken input to text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30" name="Bx130"/>
          <p:cNvSpPr/>
          <p:nvPr/>
        </p:nvSpPr>
        <p:spPr>
          <a:xfrm>
            <a:off x="12200000" y="4800000"/>
            <a:ext cx="101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CTC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31" name="Bx131"/>
          <p:cNvSpPr/>
          <p:nvPr/>
        </p:nvSpPr>
        <p:spPr>
          <a:xfrm>
            <a:off x="12200000" y="5300000"/>
            <a:ext cx="10100000" cy="9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DDDDDD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Connectionist Temporal Classification: maps audio to characters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40" name="Bx140"/>
          <p:cNvSpPr/>
          <p:nvPr/>
        </p:nvSpPr>
        <p:spPr>
          <a:xfrm>
            <a:off x="1700000" y="6600000"/>
            <a:ext cx="101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Ground Truth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41" name="Bx141"/>
          <p:cNvSpPr/>
          <p:nvPr/>
        </p:nvSpPr>
        <p:spPr>
          <a:xfrm>
            <a:off x="1700000" y="7100000"/>
            <a:ext cx="10100000" cy="9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DDDDDD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Predefined correct expected answer for each learning item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50" name="Bx150"/>
          <p:cNvSpPr/>
          <p:nvPr/>
        </p:nvSpPr>
        <p:spPr>
          <a:xfrm>
            <a:off x="12200000" y="6600000"/>
            <a:ext cx="101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Confidence Score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51" name="Bx151"/>
          <p:cNvSpPr/>
          <p:nvPr/>
        </p:nvSpPr>
        <p:spPr>
          <a:xfrm>
            <a:off x="12200000" y="7100000"/>
            <a:ext cx="10100000" cy="9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DDDDDD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Model certainty level supporting pronunciation evaluation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60" name="Bx160"/>
          <p:cNvSpPr/>
          <p:nvPr/>
        </p:nvSpPr>
        <p:spPr>
          <a:xfrm>
            <a:off x="1700000" y="8400000"/>
            <a:ext cx="101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Gamification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61" name="Bx161"/>
          <p:cNvSpPr/>
          <p:nvPr/>
        </p:nvSpPr>
        <p:spPr>
          <a:xfrm>
            <a:off x="1700000" y="8900000"/>
            <a:ext cx="10100000" cy="9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DDDDDD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Stars, badges, and levels used to motivate child learning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en-US" sz="6400" b="1" dirty="0">
                <a:solidFill>
                  <a:srgbClr val="002060"/>
                </a:solidFill>
              </a:rPr>
              <a:t>Problem</a:t>
            </a:r>
            <a:endParaRPr lang="en-US" altLang="en-US" sz="6400" b="1" dirty="0">
              <a:solidFill>
                <a:srgbClr val="002060"/>
              </a:solidFill>
            </a:endParaRPr>
          </a:p>
        </p:txBody>
      </p:sp>
      <p:sp>
        <p:nvSpPr>
          <p:cNvPr id="10" name="Stat10"/>
          <p:cNvSpPr/>
          <p:nvPr/>
        </p:nvSpPr>
        <p:spPr>
          <a:xfrm>
            <a:off x="1900000" y="3000000"/>
            <a:ext cx="6000000" cy="3500000"/>
          </a:xfrm>
          <a:prstGeom prst="rect">
            <a:avLst/>
          </a:prstGeom>
          <a:solidFill>
            <a:srgbClr val="F0F4FF"/>
          </a:solidFill>
          <a:ln w="19050">
            <a:solidFill>
              <a:srgbClr val="002060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8000" b="1" dirty="0">
                <a:solidFill>
                  <a:srgbClr val="C0392B"/>
                </a:solidFill>
                <a:latin typeface="Aeonik TRIAL"/>
              </a:rPr>
              <a:t>55.9%</a:t>
            </a:r>
            <a:endParaRPr lang="en-US" sz="8000" b="1" dirty="0">
              <a:solidFill>
                <a:srgbClr val="C0392B"/>
              </a:solidFill>
              <a:latin typeface="Aeonik TRIAL"/>
            </a:endParaRPr>
          </a:p>
          <a:p>
            <a:pPr algn="ctr"/>
            <a:r>
              <a:rPr lang="en-US" sz="2000" dirty="0">
                <a:solidFill>
                  <a:srgbClr val="333333"/>
                </a:solidFill>
                <a:latin typeface="Aeonik TRIAL"/>
              </a:rPr>
              <a:t>of parents faced difficulty</a:t>
            </a:r>
            <a:endParaRPr lang="en-US" sz="2000" dirty="0">
              <a:solidFill>
                <a:srgbClr val="333333"/>
              </a:solidFill>
              <a:latin typeface="Aeonik TRIAL"/>
            </a:endParaRPr>
          </a:p>
          <a:p>
            <a:pPr algn="ctr"/>
            <a:r>
              <a:rPr lang="en-US" sz="2000" dirty="0">
                <a:solidFill>
                  <a:srgbClr val="333333"/>
                </a:solidFill>
                <a:latin typeface="Aeonik TRIAL"/>
              </a:rPr>
              <a:t>teaching children correct Arabic</a:t>
            </a:r>
            <a:endParaRPr lang="en-US" sz="20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1" name="Stat11"/>
          <p:cNvSpPr/>
          <p:nvPr/>
        </p:nvSpPr>
        <p:spPr>
          <a:xfrm>
            <a:off x="9200000" y="3000000"/>
            <a:ext cx="6000000" cy="3500000"/>
          </a:xfrm>
          <a:prstGeom prst="rect">
            <a:avLst/>
          </a:prstGeom>
          <a:solidFill>
            <a:srgbClr val="F0F4FF"/>
          </a:solidFill>
          <a:ln w="19050">
            <a:solidFill>
              <a:srgbClr val="002060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8000" b="1" dirty="0">
                <a:solidFill>
                  <a:srgbClr val="C0392B"/>
                </a:solidFill>
                <a:latin typeface="Aeonik TRIAL"/>
              </a:rPr>
              <a:t>89.7%</a:t>
            </a:r>
            <a:endParaRPr lang="en-US" sz="8000" b="1" dirty="0">
              <a:solidFill>
                <a:srgbClr val="C0392B"/>
              </a:solidFill>
              <a:latin typeface="Aeonik TRIAL"/>
            </a:endParaRPr>
          </a:p>
          <a:p>
            <a:pPr algn="ctr"/>
            <a:r>
              <a:rPr lang="en-US" sz="2000" dirty="0">
                <a:solidFill>
                  <a:srgbClr val="333333"/>
                </a:solidFill>
                <a:latin typeface="Aeonik TRIAL"/>
              </a:rPr>
              <a:t>of children start learning</a:t>
            </a:r>
            <a:endParaRPr lang="en-US" sz="2000" dirty="0">
              <a:solidFill>
                <a:srgbClr val="333333"/>
              </a:solidFill>
              <a:latin typeface="Aeonik TRIAL"/>
            </a:endParaRPr>
          </a:p>
          <a:p>
            <a:pPr algn="ctr"/>
            <a:r>
              <a:rPr lang="en-US" sz="2000" dirty="0">
                <a:solidFill>
                  <a:srgbClr val="333333"/>
                </a:solidFill>
                <a:latin typeface="Aeonik TRIAL"/>
              </a:rPr>
              <a:t>Arabic between ages 3 and 6</a:t>
            </a:r>
            <a:endParaRPr lang="en-US" sz="20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2" name="Stat12"/>
          <p:cNvSpPr/>
          <p:nvPr/>
        </p:nvSpPr>
        <p:spPr>
          <a:xfrm>
            <a:off x="16500000" y="3000000"/>
            <a:ext cx="6000000" cy="3500000"/>
          </a:xfrm>
          <a:prstGeom prst="rect">
            <a:avLst/>
          </a:prstGeom>
          <a:solidFill>
            <a:srgbClr val="F0F4FF"/>
          </a:solidFill>
          <a:ln w="19050">
            <a:solidFill>
              <a:srgbClr val="002060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8000" b="1" dirty="0">
                <a:solidFill>
                  <a:srgbClr val="C0392B"/>
                </a:solidFill>
                <a:latin typeface="Aeonik TRIAL"/>
              </a:rPr>
              <a:t>97.1%</a:t>
            </a:r>
            <a:endParaRPr lang="en-US" sz="8000" b="1" dirty="0">
              <a:solidFill>
                <a:srgbClr val="C0392B"/>
              </a:solidFill>
              <a:latin typeface="Aeonik TRIAL"/>
            </a:endParaRPr>
          </a:p>
          <a:p>
            <a:pPr algn="ctr"/>
            <a:r>
              <a:rPr lang="en-US" sz="2000" dirty="0">
                <a:solidFill>
                  <a:srgbClr val="333333"/>
                </a:solidFill>
                <a:latin typeface="Aeonik TRIAL"/>
              </a:rPr>
              <a:t>of survey respondents were</a:t>
            </a:r>
            <a:endParaRPr lang="en-US" sz="2000" dirty="0">
              <a:solidFill>
                <a:srgbClr val="333333"/>
              </a:solidFill>
              <a:latin typeface="Aeonik TRIAL"/>
            </a:endParaRPr>
          </a:p>
          <a:p>
            <a:pPr algn="ctr"/>
            <a:r>
              <a:rPr lang="en-US" sz="2000" dirty="0">
                <a:solidFill>
                  <a:srgbClr val="333333"/>
                </a:solidFill>
                <a:latin typeface="Aeonik TRIAL"/>
              </a:rPr>
              <a:t>excited about the Yantiq concept</a:t>
            </a:r>
            <a:endParaRPr lang="en-US" sz="20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50" name="BulletBox"/>
          <p:cNvSpPr txBox="1"/>
          <p:nvPr/>
        </p:nvSpPr>
        <p:spPr>
          <a:xfrm>
            <a:off x="1899920" y="7148830"/>
            <a:ext cx="220116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Aeonik TRIAL"/>
              </a:rPr>
              <a:t>Most existing apps offer passive listening only — no real-time pronunciation check</a:t>
            </a:r>
            <a:endParaRPr lang="en-US" altLang="en-US" sz="32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Aeonik TRIAL"/>
              </a:rPr>
              <a:t>Without immediate correction, wrong pronunciation habits form and persist</a:t>
            </a:r>
            <a:endParaRPr lang="en-US" altLang="en-US" sz="32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Aeonik TRIAL"/>
              </a:rPr>
              <a:t>Gap: no child-safe interactive Arabic tutor combining listening, speaking, feedback, and progress tracking</a:t>
            </a:r>
            <a:endParaRPr lang="en-US" altLang="en-US" sz="3200" dirty="0"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en-US" sz="6400" b="1" dirty="0">
                <a:solidFill>
                  <a:srgbClr val="002060"/>
                </a:solidFill>
              </a:rPr>
              <a:t>Literature Review</a:t>
            </a:r>
            <a:endParaRPr lang="en-US" altLang="en-US" sz="6400" b="1" dirty="0">
              <a:solidFill>
                <a:srgbClr val="002060"/>
              </a:solidFill>
            </a:endParaRPr>
          </a:p>
        </p:txBody>
      </p:sp>
      <p:sp>
        <p:nvSpPr>
          <p:cNvPr id="20" name="OBox20"/>
          <p:cNvSpPr/>
          <p:nvPr/>
        </p:nvSpPr>
        <p:spPr>
          <a:xfrm>
            <a:off x="1699895" y="2900045"/>
            <a:ext cx="9900285" cy="4897120"/>
          </a:xfrm>
          <a:prstGeom prst="rect">
            <a:avLst/>
          </a:prstGeom>
          <a:solidFill>
            <a:srgbClr val="EBF0FA"/>
          </a:solidFill>
          <a:ln w="19050">
            <a:solidFill>
              <a:srgbClr val="002060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endParaRPr lang="en-US" sz="100" dirty="0">
              <a:solidFill>
                <a:srgbClr val="EBF0FA"/>
              </a:solidFill>
              <a:latin typeface="Aeonik TRIAL"/>
            </a:endParaRPr>
          </a:p>
        </p:txBody>
      </p:sp>
      <p:sp>
        <p:nvSpPr>
          <p:cNvPr id="21" name="Lbl21"/>
          <p:cNvSpPr txBox="1"/>
          <p:nvPr/>
        </p:nvSpPr>
        <p:spPr>
          <a:xfrm>
            <a:off x="2000000" y="3000000"/>
            <a:ext cx="93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002060"/>
                </a:solidFill>
                <a:latin typeface="Aeonik TRIAL"/>
              </a:rPr>
              <a:t>Why Quran Muaalem?</a:t>
            </a:r>
            <a:endParaRPr lang="en-US" sz="30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22" name="Lbl22"/>
          <p:cNvSpPr txBox="1"/>
          <p:nvPr/>
        </p:nvSpPr>
        <p:spPr>
          <a:xfrm>
            <a:off x="2000000" y="3700000"/>
            <a:ext cx="93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Built specifically for Quranic Arabic — the most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rigorously pronounced form of the language.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Already handles Arabic phoneme recognition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and speech-based pronunciation evaluation.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No other public model targets Arabic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pronunciation evaluation at this specificity.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23" name="OBox23"/>
          <p:cNvSpPr/>
          <p:nvPr/>
        </p:nvSpPr>
        <p:spPr>
          <a:xfrm>
            <a:off x="12799695" y="2900045"/>
            <a:ext cx="9900285" cy="4897120"/>
          </a:xfrm>
          <a:prstGeom prst="rect">
            <a:avLst/>
          </a:prstGeom>
          <a:solidFill>
            <a:srgbClr val="EBF0FA"/>
          </a:solidFill>
          <a:ln w="19050">
            <a:solidFill>
              <a:srgbClr val="002060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endParaRPr lang="en-US" sz="100" dirty="0">
              <a:solidFill>
                <a:srgbClr val="EBF0FA"/>
              </a:solidFill>
              <a:latin typeface="Aeonik TRIAL"/>
            </a:endParaRPr>
          </a:p>
        </p:txBody>
      </p:sp>
      <p:sp>
        <p:nvSpPr>
          <p:cNvPr id="24" name="Lbl24"/>
          <p:cNvSpPr txBox="1"/>
          <p:nvPr/>
        </p:nvSpPr>
        <p:spPr>
          <a:xfrm>
            <a:off x="13100000" y="3000000"/>
            <a:ext cx="93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002060"/>
                </a:solidFill>
                <a:latin typeface="Aeonik TRIAL"/>
              </a:rPr>
              <a:t>Adaptation for MSA</a:t>
            </a:r>
            <a:endParaRPr lang="en-US" sz="30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25" name="Lbl25"/>
          <p:cNvSpPr txBox="1"/>
          <p:nvPr/>
        </p:nvSpPr>
        <p:spPr>
          <a:xfrm>
            <a:off x="13100000" y="3700000"/>
            <a:ext cx="93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CTC output heads reduced from 43 to 35 to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remove Tajweed-specific classes and align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with Modern Standard Arabic (MSA) scope.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Fine-tuned on Mozilla Common Voice Arabic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for MSA pronunciation patterns.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Arabic-Phonetiser converts ground truth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  <a:p>
            <a:pPr algn="l"/>
            <a:r>
              <a:rPr lang="en-US" sz="2300" dirty="0">
                <a:solidFill>
                  <a:srgbClr val="333333"/>
                </a:solidFill>
                <a:latin typeface="Aeonik TRIAL"/>
              </a:rPr>
              <a:t>text to expected phoneme sequences.</a:t>
            </a:r>
            <a:endParaRPr lang="en-US" sz="23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28" name="Lbl28"/>
          <p:cNvSpPr txBox="1"/>
          <p:nvPr/>
        </p:nvSpPr>
        <p:spPr>
          <a:xfrm>
            <a:off x="1700000" y="8647940"/>
            <a:ext cx="2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Aeonik TRIAL"/>
              </a:rPr>
              <a:t>Pronunciation Evaluation Pipeline</a:t>
            </a:r>
            <a:endParaRPr lang="en-US" sz="24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29" name="Box29"/>
          <p:cNvSpPr/>
          <p:nvPr/>
        </p:nvSpPr>
        <p:spPr>
          <a:xfrm>
            <a:off x="1700000" y="9247940"/>
            <a:ext cx="3400000" cy="11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Child Audio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Input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30" name="Arr30"/>
          <p:cNvSpPr/>
          <p:nvPr/>
        </p:nvSpPr>
        <p:spPr>
          <a:xfrm>
            <a:off x="5200000" y="9497940"/>
            <a:ext cx="700000" cy="5000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Box31"/>
          <p:cNvSpPr/>
          <p:nvPr/>
        </p:nvSpPr>
        <p:spPr>
          <a:xfrm>
            <a:off x="6000000" y="9247940"/>
            <a:ext cx="3400000" cy="11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Quran Muaalem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(adapted, 35 CTC)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32" name="Arr32"/>
          <p:cNvSpPr/>
          <p:nvPr/>
        </p:nvSpPr>
        <p:spPr>
          <a:xfrm>
            <a:off x="9500000" y="9497940"/>
            <a:ext cx="700000" cy="5000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Box33"/>
          <p:cNvSpPr/>
          <p:nvPr/>
        </p:nvSpPr>
        <p:spPr>
          <a:xfrm>
            <a:off x="10300000" y="9247940"/>
            <a:ext cx="3400000" cy="11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Phoneme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Prediction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34" name="Arr34"/>
          <p:cNvSpPr/>
          <p:nvPr/>
        </p:nvSpPr>
        <p:spPr>
          <a:xfrm>
            <a:off x="13800000" y="9497940"/>
            <a:ext cx="700000" cy="5000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Box35"/>
          <p:cNvSpPr/>
          <p:nvPr/>
        </p:nvSpPr>
        <p:spPr>
          <a:xfrm>
            <a:off x="14600000" y="9247940"/>
            <a:ext cx="3400000" cy="11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Ground Truth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Comparison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36" name="Arr36"/>
          <p:cNvSpPr/>
          <p:nvPr/>
        </p:nvSpPr>
        <p:spPr>
          <a:xfrm>
            <a:off x="18100000" y="9497940"/>
            <a:ext cx="700000" cy="5000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Box37"/>
          <p:cNvSpPr/>
          <p:nvPr/>
        </p:nvSpPr>
        <p:spPr>
          <a:xfrm>
            <a:off x="18900000" y="9247940"/>
            <a:ext cx="3500000" cy="11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Score +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100" b="1" dirty="0">
                <a:solidFill>
                  <a:srgbClr val="FFFFFF"/>
                </a:solidFill>
                <a:latin typeface="Aeonik TRIAL"/>
              </a:rPr>
              <a:t>Feedback</a:t>
            </a:r>
            <a:endParaRPr lang="en-US" sz="2100" b="1" dirty="0">
              <a:solidFill>
                <a:srgbClr val="FFFFFF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Available Solutions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" name="Bx10"/>
          <p:cNvSpPr/>
          <p:nvPr/>
        </p:nvSpPr>
        <p:spPr>
          <a:xfrm>
            <a:off x="2875740" y="3268960"/>
            <a:ext cx="4800000" cy="11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Solution Type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" name="Bx11"/>
          <p:cNvSpPr/>
          <p:nvPr/>
        </p:nvSpPr>
        <p:spPr>
          <a:xfrm>
            <a:off x="7675740" y="3268960"/>
            <a:ext cx="2500000" cy="11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Arabic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Support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2" name="Bx12"/>
          <p:cNvSpPr/>
          <p:nvPr/>
        </p:nvSpPr>
        <p:spPr>
          <a:xfrm>
            <a:off x="10175740" y="3268960"/>
            <a:ext cx="2800000" cy="11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Real-Time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Correction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3" name="Bx13"/>
          <p:cNvSpPr/>
          <p:nvPr/>
        </p:nvSpPr>
        <p:spPr>
          <a:xfrm>
            <a:off x="12975740" y="3268960"/>
            <a:ext cx="2800000" cy="11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Ground Truth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Compare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4" name="Bx14"/>
          <p:cNvSpPr/>
          <p:nvPr/>
        </p:nvSpPr>
        <p:spPr>
          <a:xfrm>
            <a:off x="15775740" y="3268960"/>
            <a:ext cx="2700000" cy="11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Gamifi-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cation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5" name="Bx15"/>
          <p:cNvSpPr/>
          <p:nvPr/>
        </p:nvSpPr>
        <p:spPr>
          <a:xfrm>
            <a:off x="18475740" y="3268960"/>
            <a:ext cx="2700000" cy="11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Adult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Dashboard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6" name="Bx16"/>
          <p:cNvSpPr/>
          <p:nvPr/>
        </p:nvSpPr>
        <p:spPr>
          <a:xfrm>
            <a:off x="2875740" y="4418960"/>
            <a:ext cx="48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002060"/>
                </a:solidFill>
                <a:latin typeface="Aeonik TRIAL"/>
              </a:rPr>
              <a:t>Static Arabic Apps</a:t>
            </a:r>
            <a:endParaRPr lang="en-US" sz="20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17" name="Bx17"/>
          <p:cNvSpPr/>
          <p:nvPr/>
        </p:nvSpPr>
        <p:spPr>
          <a:xfrm>
            <a:off x="7675740" y="4418960"/>
            <a:ext cx="25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Yes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18" name="Bx18"/>
          <p:cNvSpPr/>
          <p:nvPr/>
        </p:nvSpPr>
        <p:spPr>
          <a:xfrm>
            <a:off x="10175740" y="4418960"/>
            <a:ext cx="28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No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19" name="Bx19"/>
          <p:cNvSpPr/>
          <p:nvPr/>
        </p:nvSpPr>
        <p:spPr>
          <a:xfrm>
            <a:off x="12975740" y="4418960"/>
            <a:ext cx="28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No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0" name="Bx20"/>
          <p:cNvSpPr/>
          <p:nvPr/>
        </p:nvSpPr>
        <p:spPr>
          <a:xfrm>
            <a:off x="15775740" y="4418960"/>
            <a:ext cx="27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Partial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1" name="Bx21"/>
          <p:cNvSpPr/>
          <p:nvPr/>
        </p:nvSpPr>
        <p:spPr>
          <a:xfrm>
            <a:off x="18475740" y="4418960"/>
            <a:ext cx="27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No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2" name="Bx22"/>
          <p:cNvSpPr/>
          <p:nvPr/>
        </p:nvSpPr>
        <p:spPr>
          <a:xfrm>
            <a:off x="2875740" y="5568960"/>
            <a:ext cx="48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002060"/>
                </a:solidFill>
                <a:latin typeface="Aeonik TRIAL"/>
              </a:rPr>
              <a:t>Video-Based Learning</a:t>
            </a:r>
            <a:endParaRPr lang="en-US" sz="20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23" name="Bx23"/>
          <p:cNvSpPr/>
          <p:nvPr/>
        </p:nvSpPr>
        <p:spPr>
          <a:xfrm>
            <a:off x="7675740" y="5568960"/>
            <a:ext cx="25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Part.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4" name="Bx24"/>
          <p:cNvSpPr/>
          <p:nvPr/>
        </p:nvSpPr>
        <p:spPr>
          <a:xfrm>
            <a:off x="10175740" y="5568960"/>
            <a:ext cx="28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No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5" name="Bx25"/>
          <p:cNvSpPr/>
          <p:nvPr/>
        </p:nvSpPr>
        <p:spPr>
          <a:xfrm>
            <a:off x="12975740" y="5568960"/>
            <a:ext cx="28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No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6" name="Bx26"/>
          <p:cNvSpPr/>
          <p:nvPr/>
        </p:nvSpPr>
        <p:spPr>
          <a:xfrm>
            <a:off x="15775740" y="5568960"/>
            <a:ext cx="27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No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7" name="Bx27"/>
          <p:cNvSpPr/>
          <p:nvPr/>
        </p:nvSpPr>
        <p:spPr>
          <a:xfrm>
            <a:off x="18475740" y="5568960"/>
            <a:ext cx="27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No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8" name="Bx28"/>
          <p:cNvSpPr/>
          <p:nvPr/>
        </p:nvSpPr>
        <p:spPr>
          <a:xfrm>
            <a:off x="2875740" y="6718960"/>
            <a:ext cx="48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002060"/>
                </a:solidFill>
                <a:latin typeface="Aeonik TRIAL"/>
              </a:rPr>
              <a:t>Quran Recitation Apps</a:t>
            </a:r>
            <a:endParaRPr lang="en-US" sz="20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29" name="Bx29"/>
          <p:cNvSpPr/>
          <p:nvPr/>
        </p:nvSpPr>
        <p:spPr>
          <a:xfrm>
            <a:off x="7675740" y="6718960"/>
            <a:ext cx="25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Yes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30" name="Bx30"/>
          <p:cNvSpPr/>
          <p:nvPr/>
        </p:nvSpPr>
        <p:spPr>
          <a:xfrm>
            <a:off x="10175740" y="6718960"/>
            <a:ext cx="28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Partial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31" name="Bx31"/>
          <p:cNvSpPr/>
          <p:nvPr/>
        </p:nvSpPr>
        <p:spPr>
          <a:xfrm>
            <a:off x="12975740" y="6718960"/>
            <a:ext cx="28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Partial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32" name="Bx32"/>
          <p:cNvSpPr/>
          <p:nvPr/>
        </p:nvSpPr>
        <p:spPr>
          <a:xfrm>
            <a:off x="15775740" y="6718960"/>
            <a:ext cx="27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Partial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33" name="Bx33"/>
          <p:cNvSpPr/>
          <p:nvPr/>
        </p:nvSpPr>
        <p:spPr>
          <a:xfrm>
            <a:off x="18475740" y="6718960"/>
            <a:ext cx="2700000" cy="115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No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34" name="Bx34"/>
          <p:cNvSpPr/>
          <p:nvPr/>
        </p:nvSpPr>
        <p:spPr>
          <a:xfrm>
            <a:off x="2875740" y="7868960"/>
            <a:ext cx="48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002060"/>
                </a:solidFill>
                <a:latin typeface="Aeonik TRIAL"/>
              </a:rPr>
              <a:t>General Language Apps</a:t>
            </a:r>
            <a:endParaRPr lang="en-US" sz="20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35" name="Bx35"/>
          <p:cNvSpPr/>
          <p:nvPr/>
        </p:nvSpPr>
        <p:spPr>
          <a:xfrm>
            <a:off x="7675740" y="7868960"/>
            <a:ext cx="25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Part.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36" name="Bx36"/>
          <p:cNvSpPr/>
          <p:nvPr/>
        </p:nvSpPr>
        <p:spPr>
          <a:xfrm>
            <a:off x="10175740" y="7868960"/>
            <a:ext cx="28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Partial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37" name="Bx37"/>
          <p:cNvSpPr/>
          <p:nvPr/>
        </p:nvSpPr>
        <p:spPr>
          <a:xfrm>
            <a:off x="12975740" y="7868960"/>
            <a:ext cx="28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Partial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38" name="Bx38"/>
          <p:cNvSpPr/>
          <p:nvPr/>
        </p:nvSpPr>
        <p:spPr>
          <a:xfrm>
            <a:off x="15775740" y="7868960"/>
            <a:ext cx="27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Yes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39" name="Bx39"/>
          <p:cNvSpPr/>
          <p:nvPr/>
        </p:nvSpPr>
        <p:spPr>
          <a:xfrm>
            <a:off x="18475740" y="7868960"/>
            <a:ext cx="2700000" cy="11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222222"/>
                </a:solidFill>
                <a:latin typeface="Aeonik TRIAL"/>
              </a:rPr>
              <a:t>Partial</a:t>
            </a:r>
            <a:endParaRPr lang="en-US" sz="20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40" name="Bx40"/>
          <p:cNvSpPr/>
          <p:nvPr/>
        </p:nvSpPr>
        <p:spPr>
          <a:xfrm>
            <a:off x="2875740" y="9018960"/>
            <a:ext cx="4800000" cy="1150000"/>
          </a:xfrm>
          <a:prstGeom prst="rect">
            <a:avLst/>
          </a:prstGeom>
          <a:solidFill>
            <a:srgbClr val="1E3A5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Yantiq (Proposed)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41" name="Bx41"/>
          <p:cNvSpPr/>
          <p:nvPr/>
        </p:nvSpPr>
        <p:spPr>
          <a:xfrm>
            <a:off x="7675740" y="9018960"/>
            <a:ext cx="2500000" cy="1150000"/>
          </a:xfrm>
          <a:prstGeom prst="rect">
            <a:avLst/>
          </a:prstGeom>
          <a:solidFill>
            <a:srgbClr val="1E3A5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Yes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42" name="Bx42"/>
          <p:cNvSpPr/>
          <p:nvPr/>
        </p:nvSpPr>
        <p:spPr>
          <a:xfrm>
            <a:off x="10175740" y="9018960"/>
            <a:ext cx="2800000" cy="1150000"/>
          </a:xfrm>
          <a:prstGeom prst="rect">
            <a:avLst/>
          </a:prstGeom>
          <a:solidFill>
            <a:srgbClr val="1E3A5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Yes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43" name="Bx43"/>
          <p:cNvSpPr/>
          <p:nvPr/>
        </p:nvSpPr>
        <p:spPr>
          <a:xfrm>
            <a:off x="12975740" y="9018960"/>
            <a:ext cx="2800000" cy="1150000"/>
          </a:xfrm>
          <a:prstGeom prst="rect">
            <a:avLst/>
          </a:prstGeom>
          <a:solidFill>
            <a:srgbClr val="1E3A5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Yes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44" name="Bx44"/>
          <p:cNvSpPr/>
          <p:nvPr/>
        </p:nvSpPr>
        <p:spPr>
          <a:xfrm>
            <a:off x="15775740" y="9018960"/>
            <a:ext cx="2700000" cy="1150000"/>
          </a:xfrm>
          <a:prstGeom prst="rect">
            <a:avLst/>
          </a:prstGeom>
          <a:solidFill>
            <a:srgbClr val="1E3A5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Yes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45" name="Bx45"/>
          <p:cNvSpPr/>
          <p:nvPr/>
        </p:nvSpPr>
        <p:spPr>
          <a:xfrm>
            <a:off x="18475740" y="9018960"/>
            <a:ext cx="2700000" cy="1150000"/>
          </a:xfrm>
          <a:prstGeom prst="rect">
            <a:avLst/>
          </a:prstGeom>
          <a:solidFill>
            <a:srgbClr val="1E3A5F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000" b="1" dirty="0">
                <a:solidFill>
                  <a:srgbClr val="FFFFFF"/>
                </a:solidFill>
                <a:latin typeface="Aeonik TRIAL"/>
              </a:rPr>
              <a:t>Yes</a:t>
            </a:r>
            <a:endParaRPr lang="en-US" sz="2000" b="1" dirty="0">
              <a:solidFill>
                <a:srgbClr val="FFFFFF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en-US" sz="6400" b="1" dirty="0">
                <a:solidFill>
                  <a:srgbClr val="002060"/>
                </a:solidFill>
              </a:rPr>
              <a:t>Proposed Solution</a:t>
            </a:r>
            <a:endParaRPr lang="en-US" altLang="en-US" sz="6400" b="1" dirty="0">
              <a:solidFill>
                <a:srgbClr val="002060"/>
              </a:solidFill>
            </a:endParaRPr>
          </a:p>
        </p:txBody>
      </p:sp>
      <p:sp>
        <p:nvSpPr>
          <p:cNvPr id="9" name="Lbl9"/>
          <p:cNvSpPr txBox="1"/>
          <p:nvPr/>
        </p:nvSpPr>
        <p:spPr>
          <a:xfrm>
            <a:off x="1800000" y="2900000"/>
            <a:ext cx="20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002060"/>
                </a:solidFill>
                <a:latin typeface="Aeonik TRIAL"/>
              </a:rPr>
              <a:t>Learning Path</a:t>
            </a:r>
            <a:endParaRPr lang="en-US" sz="26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10" name="Box10"/>
          <p:cNvSpPr/>
          <p:nvPr/>
        </p:nvSpPr>
        <p:spPr>
          <a:xfrm>
            <a:off x="1800000" y="3600000"/>
            <a:ext cx="5000000" cy="18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eonik TRIAL"/>
              </a:rPr>
              <a:t>Level 1</a:t>
            </a:r>
            <a:endParaRPr lang="en-US" sz="32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3200" b="1" dirty="0">
                <a:solidFill>
                  <a:srgbClr val="FFFFFF"/>
                </a:solidFill>
                <a:latin typeface="Aeonik TRIAL"/>
              </a:rPr>
              <a:t>Letters</a:t>
            </a:r>
            <a:endParaRPr lang="en-US" sz="32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" name="Arr11"/>
          <p:cNvSpPr/>
          <p:nvPr/>
        </p:nvSpPr>
        <p:spPr>
          <a:xfrm>
            <a:off x="6900000" y="4200000"/>
            <a:ext cx="900000" cy="6000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Box12"/>
          <p:cNvSpPr/>
          <p:nvPr/>
        </p:nvSpPr>
        <p:spPr>
          <a:xfrm>
            <a:off x="8400000" y="3600000"/>
            <a:ext cx="5000000" cy="18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eonik TRIAL"/>
              </a:rPr>
              <a:t>Level 2</a:t>
            </a:r>
            <a:endParaRPr lang="en-US" sz="32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3200" b="1" dirty="0">
                <a:solidFill>
                  <a:srgbClr val="FFFFFF"/>
                </a:solidFill>
                <a:latin typeface="Aeonik TRIAL"/>
              </a:rPr>
              <a:t>Words</a:t>
            </a:r>
            <a:endParaRPr lang="en-US" sz="32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3" name="Arr13"/>
          <p:cNvSpPr/>
          <p:nvPr/>
        </p:nvSpPr>
        <p:spPr>
          <a:xfrm>
            <a:off x="13500000" y="4200000"/>
            <a:ext cx="900000" cy="6000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Box14"/>
          <p:cNvSpPr/>
          <p:nvPr/>
        </p:nvSpPr>
        <p:spPr>
          <a:xfrm>
            <a:off x="15000000" y="3600000"/>
            <a:ext cx="5000000" cy="18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eonik TRIAL"/>
              </a:rPr>
              <a:t>Level 3</a:t>
            </a:r>
            <a:endParaRPr lang="en-US" sz="32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3200" b="1" dirty="0">
                <a:solidFill>
                  <a:srgbClr val="FFFFFF"/>
                </a:solidFill>
                <a:latin typeface="Aeonik TRIAL"/>
              </a:rPr>
              <a:t>Sentences</a:t>
            </a:r>
            <a:endParaRPr lang="en-US" sz="32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5" name="Lbl15"/>
          <p:cNvSpPr txBox="1"/>
          <p:nvPr/>
        </p:nvSpPr>
        <p:spPr>
          <a:xfrm>
            <a:off x="1800000" y="55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555555"/>
                </a:solidFill>
                <a:latin typeface="Aeonik TRIAL"/>
              </a:rPr>
              <a:t>Recognize + Pronounce</a:t>
            </a:r>
            <a:endParaRPr lang="en-US" sz="2000" dirty="0">
              <a:solidFill>
                <a:srgbClr val="555555"/>
              </a:solidFill>
              <a:latin typeface="Aeonik TRIAL"/>
            </a:endParaRPr>
          </a:p>
        </p:txBody>
      </p:sp>
      <p:sp>
        <p:nvSpPr>
          <p:cNvPr id="16" name="Lbl16"/>
          <p:cNvSpPr txBox="1"/>
          <p:nvPr/>
        </p:nvSpPr>
        <p:spPr>
          <a:xfrm>
            <a:off x="8400000" y="55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555555"/>
                </a:solidFill>
                <a:latin typeface="Aeonik TRIAL"/>
              </a:rPr>
              <a:t>Combine sounds</a:t>
            </a:r>
            <a:endParaRPr lang="en-US" sz="2000" dirty="0">
              <a:solidFill>
                <a:srgbClr val="555555"/>
              </a:solidFill>
              <a:latin typeface="Aeonik TRIAL"/>
            </a:endParaRPr>
          </a:p>
        </p:txBody>
      </p:sp>
      <p:sp>
        <p:nvSpPr>
          <p:cNvPr id="17" name="Lbl17"/>
          <p:cNvSpPr txBox="1"/>
          <p:nvPr/>
        </p:nvSpPr>
        <p:spPr>
          <a:xfrm>
            <a:off x="15000000" y="55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555555"/>
                </a:solidFill>
                <a:latin typeface="Aeonik TRIAL"/>
              </a:rPr>
              <a:t>Early reading fluency</a:t>
            </a:r>
            <a:endParaRPr lang="en-US" sz="2000" dirty="0">
              <a:solidFill>
                <a:srgbClr val="555555"/>
              </a:solidFill>
              <a:latin typeface="Aeonik TRIAL"/>
            </a:endParaRPr>
          </a:p>
        </p:txBody>
      </p:sp>
      <p:sp>
        <p:nvSpPr>
          <p:cNvPr id="50" name="BulletBox"/>
          <p:cNvSpPr txBox="1"/>
          <p:nvPr/>
        </p:nvSpPr>
        <p:spPr>
          <a:xfrm>
            <a:off x="1800000" y="6300000"/>
            <a:ext cx="206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eonik TRIAL"/>
              </a:rPr>
              <a:t>Child listens to target content, repeats it, receives immediate audio feedback</a:t>
            </a:r>
            <a:endParaRPr lang="en-US" altLang="en-US" sz="28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eonik TRIAL"/>
              </a:rPr>
              <a:t>Adapted Quran Muaalem model: CTC output reduced from 43 to 35 classes for MSA</a:t>
            </a:r>
            <a:endParaRPr lang="en-US" altLang="en-US" sz="28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eonik TRIAL"/>
              </a:rPr>
              <a:t>Phoneme-based evaluation: predicted phonemes vs. expected phonemes from ground truth</a:t>
            </a:r>
            <a:endParaRPr lang="en-US" altLang="en-US" sz="28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eonik TRIAL"/>
              </a:rPr>
              <a:t>Gamification: stars, badges, level unlocking | Adult dashboard: progress + weak areas</a:t>
            </a:r>
            <a:endParaRPr lang="en-US" altLang="en-US" sz="2800" dirty="0"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User Analysis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0" name="Bx100"/>
          <p:cNvSpPr/>
          <p:nvPr/>
        </p:nvSpPr>
        <p:spPr>
          <a:xfrm>
            <a:off x="1700000" y="3000000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800" b="1" dirty="0">
                <a:solidFill>
                  <a:srgbClr val="FFFFFF"/>
                </a:solidFill>
                <a:latin typeface="Aeonik TRIAL"/>
              </a:rPr>
              <a:t>Child User (Ages 4-7)</a:t>
            </a:r>
            <a:endParaRPr lang="en-US" sz="28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01" name="Bx101"/>
          <p:cNvSpPr/>
          <p:nvPr/>
        </p:nvSpPr>
        <p:spPr>
          <a:xfrm>
            <a:off x="1700000" y="3550000"/>
            <a:ext cx="10100000" cy="385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228600" tIns="228600" rIns="228600" bIns="182880" rtlCol="0" anchor="t">
            <a:norm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Calibri" panose="020F0502020204030204"/>
              </a:rPr>
              <a:t>Audio-first interface: icons, sounds, minimal text</a:t>
            </a:r>
            <a:endParaRPr lang="en-US" sz="24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Calibri" panose="020F0502020204030204"/>
              </a:rPr>
              <a:t>Listen to target content, speak, receive audio feedback</a:t>
            </a:r>
            <a:endParaRPr lang="en-US" sz="24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Calibri" panose="020F0502020204030204"/>
              </a:rPr>
              <a:t>Earn stars, badges, and unlock next level</a:t>
            </a:r>
            <a:endParaRPr lang="en-US" sz="24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Calibri" panose="020F0502020204030204"/>
              </a:rPr>
              <a:t>Simple navigation, no complex settings</a:t>
            </a:r>
            <a:endParaRPr lang="en-US" sz="2400" dirty="0">
              <a:solidFill>
                <a:srgbClr val="333333"/>
              </a:solidFill>
              <a:latin typeface="Calibri" panose="020F0502020204030204"/>
            </a:endParaRPr>
          </a:p>
        </p:txBody>
      </p:sp>
      <p:sp>
        <p:nvSpPr>
          <p:cNvPr id="110" name="Bx110"/>
          <p:cNvSpPr/>
          <p:nvPr/>
        </p:nvSpPr>
        <p:spPr>
          <a:xfrm>
            <a:off x="12600000" y="3000000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2800" b="1" dirty="0">
                <a:solidFill>
                  <a:srgbClr val="FFFFFF"/>
                </a:solidFill>
                <a:latin typeface="Aeonik TRIAL"/>
              </a:rPr>
              <a:t>Parent / Guardian / Teacher</a:t>
            </a:r>
            <a:endParaRPr lang="en-US" sz="28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1" name="Bx111"/>
          <p:cNvSpPr/>
          <p:nvPr/>
        </p:nvSpPr>
        <p:spPr>
          <a:xfrm>
            <a:off x="12600000" y="3550000"/>
            <a:ext cx="10100000" cy="385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228600" tIns="228600" rIns="228600" bIns="182880" rtlCol="0" anchor="t">
            <a:normAutofit/>
          </a:bodyPr>
          <a:lstStyle/>
          <a:p>
            <a:pPr algn="l">
              <a:spcBef>
                <a:spcPts val="200"/>
              </a:spcBef>
              <a:spcAft>
                <a:spcPts val="30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Calibri" panose="020F0502020204030204"/>
              </a:rPr>
              <a:t>Create and manage child profile</a:t>
            </a:r>
            <a:endParaRPr lang="en-US" sz="24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Calibri" panose="020F0502020204030204"/>
              </a:rPr>
              <a:t>Monitor progress via adult dashboard</a:t>
            </a:r>
            <a:endParaRPr lang="en-US" sz="24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Calibri" panose="020F0502020204030204"/>
              </a:rPr>
              <a:t>View scores, completed lessons, weak areas</a:t>
            </a:r>
            <a:endParaRPr lang="en-US" sz="24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30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Calibri" panose="020F0502020204030204"/>
              </a:rPr>
              <a:t>Teacher: track multiple children</a:t>
            </a:r>
            <a:endParaRPr lang="en-US" sz="2400" dirty="0">
              <a:solidFill>
                <a:srgbClr val="333333"/>
              </a:solidFill>
              <a:latin typeface="Calibri" panose="020F0502020204030204"/>
            </a:endParaRPr>
          </a:p>
        </p:txBody>
      </p:sp>
      <p:sp>
        <p:nvSpPr>
          <p:cNvPr id="20" name="T20"/>
          <p:cNvSpPr txBox="1"/>
          <p:nvPr/>
        </p:nvSpPr>
        <p:spPr>
          <a:xfrm>
            <a:off x="1700000" y="7700000"/>
            <a:ext cx="21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eonik TRIAL"/>
              </a:rPr>
              <a:t>Survey Validation (68 respondents)</a:t>
            </a:r>
            <a:endParaRPr lang="en-US" sz="22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21" name="Bx21"/>
          <p:cNvSpPr/>
          <p:nvPr/>
        </p:nvSpPr>
        <p:spPr>
          <a:xfrm>
            <a:off x="1700000" y="8200000"/>
            <a:ext cx="6500000" cy="1100000"/>
          </a:xfrm>
          <a:prstGeom prst="rect">
            <a:avLst/>
          </a:prstGeom>
          <a:solidFill>
            <a:srgbClr val="F7F8FC"/>
          </a:solidFill>
          <a:ln w="1905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4000" b="1" dirty="0">
                <a:solidFill>
                  <a:srgbClr val="002060"/>
                </a:solidFill>
                <a:latin typeface="Aeonik TRIAL"/>
              </a:rPr>
              <a:t>97.1%</a:t>
            </a:r>
            <a:endParaRPr lang="en-US" sz="4000" b="1" dirty="0">
              <a:solidFill>
                <a:srgbClr val="002060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1900" dirty="0">
                <a:solidFill>
                  <a:srgbClr val="555555"/>
                </a:solidFill>
                <a:latin typeface="Aeonik TRIAL"/>
              </a:rPr>
              <a:t>excited about Yantiq concept</a:t>
            </a:r>
            <a:endParaRPr lang="en-US" sz="1900" dirty="0">
              <a:solidFill>
                <a:srgbClr val="555555"/>
              </a:solidFill>
              <a:latin typeface="Aeonik TRIAL"/>
            </a:endParaRPr>
          </a:p>
        </p:txBody>
      </p:sp>
      <p:sp>
        <p:nvSpPr>
          <p:cNvPr id="22" name="Bx22"/>
          <p:cNvSpPr/>
          <p:nvPr/>
        </p:nvSpPr>
        <p:spPr>
          <a:xfrm>
            <a:off x="8900000" y="8200000"/>
            <a:ext cx="6500000" cy="1100000"/>
          </a:xfrm>
          <a:prstGeom prst="rect">
            <a:avLst/>
          </a:prstGeom>
          <a:solidFill>
            <a:srgbClr val="F7F8FC"/>
          </a:solidFill>
          <a:ln w="1905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4000" b="1" dirty="0">
                <a:solidFill>
                  <a:srgbClr val="002060"/>
                </a:solidFill>
                <a:latin typeface="Aeonik TRIAL"/>
              </a:rPr>
              <a:t>80.9%</a:t>
            </a:r>
            <a:endParaRPr lang="en-US" sz="4000" b="1" dirty="0">
              <a:solidFill>
                <a:srgbClr val="002060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1900" dirty="0">
                <a:solidFill>
                  <a:srgbClr val="555555"/>
                </a:solidFill>
                <a:latin typeface="Aeonik TRIAL"/>
              </a:rPr>
              <a:t>prefer voice + fixed lesson duration</a:t>
            </a:r>
            <a:endParaRPr lang="en-US" sz="1900" dirty="0">
              <a:solidFill>
                <a:srgbClr val="555555"/>
              </a:solidFill>
              <a:latin typeface="Aeonik TRIAL"/>
            </a:endParaRPr>
          </a:p>
        </p:txBody>
      </p:sp>
      <p:sp>
        <p:nvSpPr>
          <p:cNvPr id="23" name="Bx23"/>
          <p:cNvSpPr/>
          <p:nvPr/>
        </p:nvSpPr>
        <p:spPr>
          <a:xfrm>
            <a:off x="16100000" y="8200000"/>
            <a:ext cx="6500000" cy="1100000"/>
          </a:xfrm>
          <a:prstGeom prst="rect">
            <a:avLst/>
          </a:prstGeom>
          <a:solidFill>
            <a:srgbClr val="F7F8FC"/>
          </a:solidFill>
          <a:ln w="1905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4000" b="1" dirty="0">
                <a:solidFill>
                  <a:srgbClr val="002060"/>
                </a:solidFill>
                <a:latin typeface="Aeonik TRIAL"/>
              </a:rPr>
              <a:t>64.7%</a:t>
            </a:r>
            <a:endParaRPr lang="en-US" sz="4000" b="1" dirty="0">
              <a:solidFill>
                <a:srgbClr val="002060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1900" dirty="0">
                <a:solidFill>
                  <a:srgbClr val="555555"/>
                </a:solidFill>
                <a:latin typeface="Aeonik TRIAL"/>
              </a:rPr>
              <a:t>prefer dedicated parent dashboard</a:t>
            </a:r>
            <a:endParaRPr lang="en-US" sz="1900" dirty="0">
              <a:solidFill>
                <a:srgbClr val="555555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Requirements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0" name="Bx100"/>
          <p:cNvSpPr/>
          <p:nvPr/>
        </p:nvSpPr>
        <p:spPr>
          <a:xfrm>
            <a:off x="1400000" y="3000000"/>
            <a:ext cx="7000000" cy="6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Functional Requirements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01" name="Bx101"/>
          <p:cNvSpPr/>
          <p:nvPr/>
        </p:nvSpPr>
        <p:spPr>
          <a:xfrm>
            <a:off x="1400000" y="3600000"/>
            <a:ext cx="7000000" cy="50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228600" tIns="228600" rIns="228600" bIns="182880" rtlCol="0" anchor="t">
            <a:normAutofit/>
          </a:bodyPr>
          <a:lstStyle/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Child profile creation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Structured learning path: Letters &gt; Words &gt; Sentences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Voice recording + AI transcription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Ground-truth phoneme comparison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Score generation + audio feedback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Retry logic for incorrect attempts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Stars, badges, level unlocking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Adult dashboard + progress tracking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</p:txBody>
      </p:sp>
      <p:sp>
        <p:nvSpPr>
          <p:cNvPr id="110" name="Bx110"/>
          <p:cNvSpPr/>
          <p:nvPr/>
        </p:nvSpPr>
        <p:spPr>
          <a:xfrm>
            <a:off x="8900000" y="3000000"/>
            <a:ext cx="7000000" cy="6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Non-Functional Requirements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1" name="Bx111"/>
          <p:cNvSpPr/>
          <p:nvPr/>
        </p:nvSpPr>
        <p:spPr>
          <a:xfrm>
            <a:off x="8900000" y="3600000"/>
            <a:ext cx="7000000" cy="50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228600" tIns="228600" rIns="228600" bIns="182880" rtlCol="0" anchor="t">
            <a:normAutofit/>
          </a:bodyPr>
          <a:lstStyle/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Response time under 2 seconds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Child-safe design, no unsafe content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HTTPS / JWT authentication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Scalable modular architecture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Cross-device mobile compatibility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Secure audio handling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</p:txBody>
      </p:sp>
      <p:sp>
        <p:nvSpPr>
          <p:cNvPr id="120" name="Bx120"/>
          <p:cNvSpPr/>
          <p:nvPr/>
        </p:nvSpPr>
        <p:spPr>
          <a:xfrm>
            <a:off x="16400000" y="3000000"/>
            <a:ext cx="7000000" cy="60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Nice-to-Have Features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21" name="Bx121"/>
          <p:cNvSpPr/>
          <p:nvPr/>
        </p:nvSpPr>
        <p:spPr>
          <a:xfrm>
            <a:off x="16400000" y="3600000"/>
            <a:ext cx="7000000" cy="50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228600" tIns="228600" rIns="228600" bIns="182880" rtlCol="0" anchor="t">
            <a:normAutofit/>
          </a:bodyPr>
          <a:lstStyle/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AI voice companion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Adaptive personalized learning path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Detailed teacher dashboard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Group/classroom management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Dialect support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anose="020F0502020204030204"/>
              </a:rPr>
              <a:t>Web platform version</a:t>
            </a:r>
            <a:endParaRPr lang="en-US" sz="2200" dirty="0">
              <a:solidFill>
                <a:srgbClr val="333333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en-US" sz="6400" b="1" dirty="0">
                <a:solidFill>
                  <a:srgbClr val="002060"/>
                </a:solidFill>
              </a:rPr>
              <a:t>Methodology</a:t>
            </a:r>
            <a:endParaRPr lang="en-US" altLang="en-US" sz="6400" b="1" dirty="0">
              <a:solidFill>
                <a:srgbClr val="002060"/>
              </a:solidFill>
            </a:endParaRPr>
          </a:p>
        </p:txBody>
      </p:sp>
      <p:sp>
        <p:nvSpPr>
          <p:cNvPr id="9" name="Lbl9"/>
          <p:cNvSpPr txBox="1"/>
          <p:nvPr/>
        </p:nvSpPr>
        <p:spPr>
          <a:xfrm>
            <a:off x="1400000" y="2800000"/>
            <a:ext cx="21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002060"/>
                </a:solidFill>
                <a:latin typeface="Aeonik TRIAL"/>
              </a:rPr>
              <a:t>AI Pronunciation Evaluation Pipeline</a:t>
            </a:r>
            <a:endParaRPr lang="en-US" sz="26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10" name="Box10"/>
          <p:cNvSpPr/>
          <p:nvPr/>
        </p:nvSpPr>
        <p:spPr>
          <a:xfrm>
            <a:off x="1400000" y="3400000"/>
            <a:ext cx="3200000" cy="1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Child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Speaks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" name="Arr11"/>
          <p:cNvSpPr/>
          <p:nvPr/>
        </p:nvSpPr>
        <p:spPr>
          <a:xfrm>
            <a:off x="4650000" y="3875000"/>
            <a:ext cx="700000" cy="5500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Box12"/>
          <p:cNvSpPr/>
          <p:nvPr/>
        </p:nvSpPr>
        <p:spPr>
          <a:xfrm>
            <a:off x="5900000" y="3400000"/>
            <a:ext cx="3200000" cy="1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Audio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Recorded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3" name="Arr13"/>
          <p:cNvSpPr/>
          <p:nvPr/>
        </p:nvSpPr>
        <p:spPr>
          <a:xfrm>
            <a:off x="9150000" y="3875000"/>
            <a:ext cx="700000" cy="5500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Box14"/>
          <p:cNvSpPr/>
          <p:nvPr/>
        </p:nvSpPr>
        <p:spPr>
          <a:xfrm>
            <a:off x="10400000" y="3400000"/>
            <a:ext cx="3200000" cy="1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Quran Muaalem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Inference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5" name="Arr15"/>
          <p:cNvSpPr/>
          <p:nvPr/>
        </p:nvSpPr>
        <p:spPr>
          <a:xfrm>
            <a:off x="13650000" y="3875000"/>
            <a:ext cx="700000" cy="5500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Box16"/>
          <p:cNvSpPr/>
          <p:nvPr/>
        </p:nvSpPr>
        <p:spPr>
          <a:xfrm>
            <a:off x="14900000" y="3400000"/>
            <a:ext cx="3200000" cy="1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Phoneme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Comparison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7" name="Arr17"/>
          <p:cNvSpPr/>
          <p:nvPr/>
        </p:nvSpPr>
        <p:spPr>
          <a:xfrm>
            <a:off x="18150000" y="3875000"/>
            <a:ext cx="700000" cy="5500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Box18"/>
          <p:cNvSpPr/>
          <p:nvPr/>
        </p:nvSpPr>
        <p:spPr>
          <a:xfrm>
            <a:off x="19400000" y="3400000"/>
            <a:ext cx="3200000" cy="15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Score +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  <a:p>
            <a:pPr algn="ctr"/>
            <a:r>
              <a:rPr lang="en-US" sz="2600" b="1" dirty="0">
                <a:solidFill>
                  <a:srgbClr val="FFFFFF"/>
                </a:solidFill>
                <a:latin typeface="Aeonik TRIAL"/>
              </a:rPr>
              <a:t>Feedback</a:t>
            </a:r>
            <a:endParaRPr lang="en-US" sz="26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9" name="Lbl19"/>
          <p:cNvSpPr txBox="1"/>
          <p:nvPr/>
        </p:nvSpPr>
        <p:spPr>
          <a:xfrm>
            <a:off x="1400000" y="50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888888"/>
                </a:solidFill>
                <a:latin typeface="Aeonik TRIAL"/>
              </a:rPr>
              <a:t>Mic input</a:t>
            </a:r>
            <a:endParaRPr lang="en-US" sz="1900" dirty="0">
              <a:solidFill>
                <a:srgbClr val="888888"/>
              </a:solidFill>
              <a:latin typeface="Aeonik TRIAL"/>
            </a:endParaRPr>
          </a:p>
        </p:txBody>
      </p:sp>
      <p:sp>
        <p:nvSpPr>
          <p:cNvPr id="20" name="Lbl20"/>
          <p:cNvSpPr txBox="1"/>
          <p:nvPr/>
        </p:nvSpPr>
        <p:spPr>
          <a:xfrm>
            <a:off x="5900000" y="50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888888"/>
                </a:solidFill>
                <a:latin typeface="Aeonik TRIAL"/>
              </a:rPr>
              <a:t>Mobile app</a:t>
            </a:r>
            <a:endParaRPr lang="en-US" sz="1900" dirty="0">
              <a:solidFill>
                <a:srgbClr val="888888"/>
              </a:solidFill>
              <a:latin typeface="Aeonik TRIAL"/>
            </a:endParaRPr>
          </a:p>
        </p:txBody>
      </p:sp>
      <p:sp>
        <p:nvSpPr>
          <p:cNvPr id="21" name="Lbl21"/>
          <p:cNvSpPr txBox="1"/>
          <p:nvPr/>
        </p:nvSpPr>
        <p:spPr>
          <a:xfrm>
            <a:off x="10400000" y="505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888888"/>
                </a:solidFill>
                <a:latin typeface="Aeonik TRIAL"/>
              </a:rPr>
              <a:t>35-class CTC</a:t>
            </a:r>
            <a:endParaRPr lang="en-US" sz="1900" dirty="0">
              <a:solidFill>
                <a:srgbClr val="888888"/>
              </a:solidFill>
              <a:latin typeface="Aeonik TRIAL"/>
            </a:endParaRPr>
          </a:p>
          <a:p>
            <a:pPr algn="ctr"/>
            <a:r>
              <a:rPr lang="en-US" sz="1900" dirty="0">
                <a:solidFill>
                  <a:srgbClr val="888888"/>
                </a:solidFill>
                <a:latin typeface="Aeonik TRIAL"/>
              </a:rPr>
              <a:t>(MSA scope)</a:t>
            </a:r>
            <a:endParaRPr lang="en-US" sz="1900" dirty="0">
              <a:solidFill>
                <a:srgbClr val="888888"/>
              </a:solidFill>
              <a:latin typeface="Aeonik TRIAL"/>
            </a:endParaRPr>
          </a:p>
        </p:txBody>
      </p:sp>
      <p:sp>
        <p:nvSpPr>
          <p:cNvPr id="22" name="Lbl22"/>
          <p:cNvSpPr txBox="1"/>
          <p:nvPr/>
        </p:nvSpPr>
        <p:spPr>
          <a:xfrm>
            <a:off x="14900000" y="505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888888"/>
                </a:solidFill>
                <a:latin typeface="Aeonik TRIAL"/>
              </a:rPr>
              <a:t>vs. Ground Truth</a:t>
            </a:r>
            <a:endParaRPr lang="en-US" sz="1900" dirty="0">
              <a:solidFill>
                <a:srgbClr val="888888"/>
              </a:solidFill>
              <a:latin typeface="Aeonik TRIAL"/>
            </a:endParaRPr>
          </a:p>
          <a:p>
            <a:pPr algn="ctr"/>
            <a:r>
              <a:rPr lang="en-US" sz="1900" dirty="0">
                <a:solidFill>
                  <a:srgbClr val="888888"/>
                </a:solidFill>
                <a:latin typeface="Aeonik TRIAL"/>
              </a:rPr>
              <a:t>(Arabic-Phonetiser)</a:t>
            </a:r>
            <a:endParaRPr lang="en-US" sz="1900" dirty="0">
              <a:solidFill>
                <a:srgbClr val="888888"/>
              </a:solidFill>
              <a:latin typeface="Aeonik TRIAL"/>
            </a:endParaRPr>
          </a:p>
        </p:txBody>
      </p:sp>
      <p:sp>
        <p:nvSpPr>
          <p:cNvPr id="23" name="Lbl23"/>
          <p:cNvSpPr txBox="1"/>
          <p:nvPr/>
        </p:nvSpPr>
        <p:spPr>
          <a:xfrm>
            <a:off x="19400000" y="50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888888"/>
                </a:solidFill>
                <a:latin typeface="Aeonik TRIAL"/>
              </a:rPr>
              <a:t>Audio to child</a:t>
            </a:r>
            <a:endParaRPr lang="en-US" sz="1900" dirty="0">
              <a:solidFill>
                <a:srgbClr val="888888"/>
              </a:solidFill>
              <a:latin typeface="Aeonik TRIAL"/>
            </a:endParaRPr>
          </a:p>
        </p:txBody>
      </p:sp>
      <p:sp>
        <p:nvSpPr>
          <p:cNvPr id="24" name="Lbl24"/>
          <p:cNvSpPr txBox="1"/>
          <p:nvPr/>
        </p:nvSpPr>
        <p:spPr>
          <a:xfrm>
            <a:off x="1400000" y="6200000"/>
            <a:ext cx="21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002060"/>
                </a:solidFill>
                <a:latin typeface="Aeonik TRIAL"/>
              </a:rPr>
              <a:t>Development Approach</a:t>
            </a:r>
            <a:endParaRPr lang="en-US" sz="26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50" name="BulletBox"/>
          <p:cNvSpPr txBox="1"/>
          <p:nvPr/>
        </p:nvSpPr>
        <p:spPr>
          <a:xfrm>
            <a:off x="1400000" y="6800000"/>
            <a:ext cx="212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eonik TRIAL"/>
              </a:rPr>
              <a:t>Incremental: GP1 = research, design, AI adaptation | GP2 = full implementation</a:t>
            </a:r>
            <a:endParaRPr lang="en-US" altLang="en-US" sz="28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eonik TRIAL"/>
              </a:rPr>
              <a:t>Educational: gradual path Letters &gt; Words &gt; Sentences with short fixed-duration lessons</a:t>
            </a:r>
            <a:endParaRPr lang="en-US" altLang="en-US" sz="28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eonik TRIAL"/>
              </a:rPr>
              <a:t>Progress tracking: each attempt stored; results feed adult dashboard and gamification rewards</a:t>
            </a:r>
            <a:endParaRPr lang="en-US" altLang="en-US" sz="2800" dirty="0"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676400" y="15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en-US" sz="5000" b="1" dirty="0">
                <a:solidFill>
                  <a:srgbClr val="002060"/>
                </a:solidFill>
              </a:rPr>
              <a:t>System Design</a:t>
            </a:r>
            <a:endParaRPr lang="en-US" altLang="en-US" sz="5000" b="1" dirty="0">
              <a:solidFill>
                <a:srgbClr val="002060"/>
              </a:solidFill>
            </a:endParaRPr>
          </a:p>
        </p:txBody>
      </p:sp>
      <p:sp>
        <p:nvSpPr>
          <p:cNvPr id="9" name="Lbl9"/>
          <p:cNvSpPr txBox="1"/>
          <p:nvPr/>
        </p:nvSpPr>
        <p:spPr>
          <a:xfrm>
            <a:off x="1700000" y="2800000"/>
            <a:ext cx="2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eonik TRIAL"/>
              </a:rPr>
              <a:t>System Architecture Diagram</a:t>
            </a:r>
            <a:endParaRPr lang="en-US" sz="2200" b="1" dirty="0">
              <a:solidFill>
                <a:srgbClr val="002060"/>
              </a:solidFill>
              <a:latin typeface="Aeonik TRIAL"/>
            </a:endParaRPr>
          </a:p>
        </p:txBody>
      </p:sp>
      <p:pic>
        <p:nvPicPr>
          <p:cNvPr id="10" name="Arch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000" y="3100000"/>
            <a:ext cx="21000000" cy="4298950"/>
          </a:xfrm>
          <a:prstGeom prst="rect">
            <a:avLst/>
          </a:prstGeom>
        </p:spPr>
      </p:pic>
      <p:sp>
        <p:nvSpPr>
          <p:cNvPr id="11" name="Lbl11"/>
          <p:cNvSpPr txBox="1"/>
          <p:nvPr/>
        </p:nvSpPr>
        <p:spPr>
          <a:xfrm>
            <a:off x="1700000" y="7448950"/>
            <a:ext cx="2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eonik TRIAL"/>
              </a:rPr>
              <a:t>Pronunciation Evaluation Sequence Diagram</a:t>
            </a:r>
            <a:endParaRPr lang="en-US" sz="2200" b="1" dirty="0">
              <a:solidFill>
                <a:srgbClr val="002060"/>
              </a:solidFill>
              <a:latin typeface="Aeonik TRIAL"/>
            </a:endParaRPr>
          </a:p>
        </p:txBody>
      </p:sp>
      <p:pic>
        <p:nvPicPr>
          <p:cNvPr id="12" name="Seq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731" y="7998950"/>
            <a:ext cx="8038537" cy="4400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Available Datasets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0" name="Bx100"/>
          <p:cNvSpPr/>
          <p:nvPr/>
        </p:nvSpPr>
        <p:spPr>
          <a:xfrm>
            <a:off x="1810490" y="3000635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Mozilla Common Voice Arabic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01" name="Bx101"/>
          <p:cNvSpPr/>
          <p:nvPr/>
        </p:nvSpPr>
        <p:spPr>
          <a:xfrm>
            <a:off x="1810385" y="3550920"/>
            <a:ext cx="10100310" cy="2563495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Open-source, large, crowd-sourced Arabic speech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Pro: diverse speakers, publicly available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Con: limited tashkeel (short vowels / diacritics)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10" name="Bx110"/>
          <p:cNvSpPr/>
          <p:nvPr/>
        </p:nvSpPr>
        <p:spPr>
          <a:xfrm>
            <a:off x="1810490" y="6583260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Quran Muaalem Training Data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1" name="Bx111"/>
          <p:cNvSpPr/>
          <p:nvPr/>
        </p:nvSpPr>
        <p:spPr>
          <a:xfrm>
            <a:off x="1810385" y="7132955"/>
            <a:ext cx="10100310" cy="1967230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Highly vowelized Arabic speech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Con: Quranic domain — not aligned with MSA scope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20" name="Bx120"/>
          <p:cNvSpPr/>
          <p:nvPr/>
        </p:nvSpPr>
        <p:spPr>
          <a:xfrm>
            <a:off x="12600000" y="3000000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Selected Dataset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21" name="Bx121"/>
          <p:cNvSpPr/>
          <p:nvPr/>
        </p:nvSpPr>
        <p:spPr>
          <a:xfrm>
            <a:off x="12600000" y="3550000"/>
            <a:ext cx="10100000" cy="265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just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Mozilla Common Voice Arabic chosen for fine-tuning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just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Best available open-source Arabic speech resource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just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Covers diverse adult speakers of MSA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30" name="Bx130"/>
          <p:cNvSpPr/>
          <p:nvPr/>
        </p:nvSpPr>
        <p:spPr>
          <a:xfrm>
            <a:off x="12600000" y="6500000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Known Limitation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31" name="Bx131"/>
          <p:cNvSpPr/>
          <p:nvPr/>
        </p:nvSpPr>
        <p:spPr>
          <a:xfrm>
            <a:off x="12600000" y="7050000"/>
            <a:ext cx="10100000" cy="205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Insufficient tashkeel reduces vowelized MSA accuracy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Future: supplement with child-specific,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tashkeel-rich, curriculum-aligned data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 fontScale="90000"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AI Model: Quran Muaalem Adaptation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20" name="T20"/>
          <p:cNvSpPr txBox="1"/>
          <p:nvPr/>
        </p:nvSpPr>
        <p:spPr>
          <a:xfrm>
            <a:off x="1576800" y="3426720"/>
            <a:ext cx="13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002060"/>
                </a:solidFill>
                <a:latin typeface="Aeonik TRIAL"/>
              </a:rPr>
              <a:t>Adaptation Steps</a:t>
            </a:r>
            <a:endParaRPr lang="en-US" sz="26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21" name="Div21"/>
          <p:cNvSpPr/>
          <p:nvPr/>
        </p:nvSpPr>
        <p:spPr>
          <a:xfrm>
            <a:off x="1576800" y="3926720"/>
            <a:ext cx="13300000" cy="95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B22"/>
          <p:cNvSpPr txBox="1"/>
          <p:nvPr/>
        </p:nvSpPr>
        <p:spPr>
          <a:xfrm>
            <a:off x="1576705" y="4076700"/>
            <a:ext cx="13904595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Base: Quran Muaalem (obadx, HuggingFace) — Arabic CTC model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Original: 43 output classes (Arabic letters + Tajweed rules)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Adapted: 35 classes — Arabic letters + required special tokens only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Fine-tuned on Mozilla Common Voice Arabic for MSA patterns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Arabic-Phonetiser converts ground truth to expected phoneme sequence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eonik TRIAL"/>
              </a:rPr>
              <a:t>Partial testing: good initial results; tashkeel gap noted for GP2</a:t>
            </a:r>
            <a:endParaRPr lang="en-US" sz="28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" name="Bx10"/>
          <p:cNvSpPr/>
          <p:nvPr/>
        </p:nvSpPr>
        <p:spPr>
          <a:xfrm>
            <a:off x="14426035" y="4916735"/>
            <a:ext cx="3200000" cy="50000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p>
            <a:pPr algn="ctr">
              <a:spcBef>
                <a:spcPts val="100"/>
              </a:spcBef>
            </a:pPr>
            <a:r>
              <a:rPr lang="en-US" sz="5400" b="1" dirty="0">
                <a:solidFill>
                  <a:srgbClr val="FFFFFF"/>
                </a:solidFill>
                <a:latin typeface="Aeonik TRIAL"/>
              </a:rPr>
              <a:t>43</a:t>
            </a:r>
            <a:endParaRPr lang="en-US" sz="54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400" dirty="0">
                <a:solidFill>
                  <a:srgbClr val="FFFFFF"/>
                </a:solidFill>
                <a:latin typeface="Aeonik TRIAL"/>
              </a:rPr>
              <a:t>CTC</a:t>
            </a:r>
            <a:endParaRPr lang="en-US" sz="2400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400" dirty="0">
                <a:solidFill>
                  <a:srgbClr val="FFFFFF"/>
                </a:solidFill>
                <a:latin typeface="Aeonik TRIAL"/>
              </a:rPr>
              <a:t>classes</a:t>
            </a:r>
            <a:endParaRPr lang="en-US" sz="2400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FFFFFF"/>
                </a:solidFill>
                <a:latin typeface="Aeonik TRIAL"/>
              </a:rPr>
              <a:t>(original)</a:t>
            </a:r>
            <a:endParaRPr lang="en-US" sz="2000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3" name="T11"/>
          <p:cNvSpPr txBox="1"/>
          <p:nvPr/>
        </p:nvSpPr>
        <p:spPr>
          <a:xfrm>
            <a:off x="14426035" y="10116735"/>
            <a:ext cx="320000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2000" dirty="0">
                <a:solidFill>
                  <a:srgbClr val="555555"/>
                </a:solidFill>
                <a:latin typeface="Aeonik TRIAL"/>
              </a:rPr>
              <a:t>Quran Muaalem
(Quranic + Tajweed)</a:t>
            </a:r>
            <a:endParaRPr lang="en-US" sz="2000" dirty="0">
              <a:solidFill>
                <a:srgbClr val="555555"/>
              </a:solidFill>
              <a:latin typeface="Aeonik TRIAL"/>
            </a:endParaRPr>
          </a:p>
        </p:txBody>
      </p:sp>
      <p:sp>
        <p:nvSpPr>
          <p:cNvPr id="4" name="Ar12"/>
          <p:cNvSpPr/>
          <p:nvPr/>
        </p:nvSpPr>
        <p:spPr>
          <a:xfrm>
            <a:off x="17776035" y="7166735"/>
            <a:ext cx="700000" cy="5000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txBody>
          <a:bodyPr/>
          <a:p>
            <a:endParaRPr lang="en-US" sz="4000" dirty="0"/>
          </a:p>
        </p:txBody>
      </p:sp>
      <p:sp>
        <p:nvSpPr>
          <p:cNvPr id="5" name="Bx13"/>
          <p:cNvSpPr/>
          <p:nvPr/>
        </p:nvSpPr>
        <p:spPr>
          <a:xfrm>
            <a:off x="18626035" y="5846968"/>
            <a:ext cx="3200000" cy="40697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p>
            <a:pPr algn="ctr">
              <a:spcBef>
                <a:spcPts val="100"/>
              </a:spcBef>
            </a:pPr>
            <a:r>
              <a:rPr lang="en-US" sz="5400" b="1" dirty="0">
                <a:solidFill>
                  <a:srgbClr val="FFFFFF"/>
                </a:solidFill>
                <a:latin typeface="Aeonik TRIAL"/>
              </a:rPr>
              <a:t>35</a:t>
            </a:r>
            <a:endParaRPr lang="en-US" sz="54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400" dirty="0">
                <a:solidFill>
                  <a:srgbClr val="FFFFFF"/>
                </a:solidFill>
                <a:latin typeface="Aeonik TRIAL"/>
              </a:rPr>
              <a:t>CTC</a:t>
            </a:r>
            <a:endParaRPr lang="en-US" sz="2400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400" dirty="0">
                <a:solidFill>
                  <a:srgbClr val="FFFFFF"/>
                </a:solidFill>
                <a:latin typeface="Aeonik TRIAL"/>
              </a:rPr>
              <a:t>classes</a:t>
            </a:r>
            <a:endParaRPr lang="en-US" sz="2400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CADCFC"/>
                </a:solidFill>
                <a:latin typeface="Aeonik TRIAL"/>
              </a:rPr>
              <a:t>(adapted)</a:t>
            </a:r>
            <a:endParaRPr lang="en-US" sz="2000" dirty="0">
              <a:solidFill>
                <a:srgbClr val="CADCFC"/>
              </a:solidFill>
              <a:latin typeface="Aeonik TRIAL"/>
            </a:endParaRPr>
          </a:p>
        </p:txBody>
      </p:sp>
      <p:sp>
        <p:nvSpPr>
          <p:cNvPr id="6" name="T14"/>
          <p:cNvSpPr txBox="1"/>
          <p:nvPr/>
        </p:nvSpPr>
        <p:spPr>
          <a:xfrm>
            <a:off x="18626035" y="10116735"/>
            <a:ext cx="320000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2000" dirty="0">
                <a:solidFill>
                  <a:srgbClr val="002060"/>
                </a:solidFill>
                <a:latin typeface="Aeonik TRIAL"/>
              </a:rPr>
              <a:t>Yantiq Model
(MSA letters + tokens)</a:t>
            </a:r>
            <a:endParaRPr lang="en-US" sz="2000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7" name="T15"/>
          <p:cNvSpPr txBox="1"/>
          <p:nvPr/>
        </p:nvSpPr>
        <p:spPr>
          <a:xfrm>
            <a:off x="17726035" y="4996735"/>
            <a:ext cx="410000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sz="2000" dirty="0">
                <a:solidFill>
                  <a:srgbClr val="C0392B"/>
                </a:solidFill>
                <a:latin typeface="Aeonik TRIAL"/>
              </a:rPr>
              <a:t>8 Tajweed-specific
classes removed</a:t>
            </a:r>
            <a:endParaRPr lang="en-US" sz="2000" dirty="0">
              <a:solidFill>
                <a:srgbClr val="C0392B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Implementation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" name="Bx10"/>
          <p:cNvSpPr/>
          <p:nvPr/>
        </p:nvSpPr>
        <p:spPr>
          <a:xfrm>
            <a:off x="1700000" y="3000000"/>
            <a:ext cx="21000000" cy="9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Mobile Application  (Flutter / Dart)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" name="Bx11"/>
          <p:cNvSpPr/>
          <p:nvPr/>
        </p:nvSpPr>
        <p:spPr>
          <a:xfrm>
            <a:off x="1700000" y="4100000"/>
            <a:ext cx="21000000" cy="9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Backend Server  (Python FastAPI)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2" name="Bx12"/>
          <p:cNvSpPr/>
          <p:nvPr/>
        </p:nvSpPr>
        <p:spPr>
          <a:xfrm>
            <a:off x="1700000" y="5200000"/>
            <a:ext cx="21000000" cy="9000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AI Service Layer  (Python + Quran Muaalem)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3" name="Bx13"/>
          <p:cNvSpPr/>
          <p:nvPr/>
        </p:nvSpPr>
        <p:spPr>
          <a:xfrm>
            <a:off x="1700000" y="6300000"/>
            <a:ext cx="21000000" cy="900000"/>
          </a:xfrm>
          <a:prstGeom prst="rect">
            <a:avLst/>
          </a:prstGeom>
          <a:solidFill>
            <a:srgbClr val="34597F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Database  (MySQL - relational schema)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4" name="Bx14"/>
          <p:cNvSpPr/>
          <p:nvPr/>
        </p:nvSpPr>
        <p:spPr>
          <a:xfrm>
            <a:off x="1700000" y="7400000"/>
            <a:ext cx="21000000" cy="90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Security Layer  (HTTPS + JWT + input validation)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20" name="T20"/>
          <p:cNvSpPr txBox="1"/>
          <p:nvPr/>
        </p:nvSpPr>
        <p:spPr>
          <a:xfrm>
            <a:off x="1700000" y="8700000"/>
            <a:ext cx="10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Aeonik TRIAL"/>
              </a:rPr>
              <a:t>GP1 Completed</a:t>
            </a:r>
            <a:endParaRPr lang="en-US" sz="2400" b="1" dirty="0">
              <a:solidFill>
                <a:srgbClr val="002060"/>
              </a:solidFill>
              <a:latin typeface="Aeonik TRIAL"/>
            </a:endParaRPr>
          </a:p>
        </p:txBody>
      </p:sp>
      <p:sp>
        <p:nvSpPr>
          <p:cNvPr id="21" name="Div21"/>
          <p:cNvSpPr/>
          <p:nvPr/>
        </p:nvSpPr>
        <p:spPr>
          <a:xfrm>
            <a:off x="1700000" y="9200000"/>
            <a:ext cx="10100000" cy="95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B22"/>
          <p:cNvSpPr txBox="1"/>
          <p:nvPr/>
        </p:nvSpPr>
        <p:spPr>
          <a:xfrm>
            <a:off x="1700000" y="9350000"/>
            <a:ext cx="101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eonik TRIAL"/>
              </a:rPr>
              <a:t>System architecture + UI/UX design</a:t>
            </a:r>
            <a:endParaRPr lang="en-US" sz="24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eonik TRIAL"/>
              </a:rPr>
              <a:t>Model CTC adaptation: 43 to 35 classes</a:t>
            </a:r>
            <a:endParaRPr lang="en-US" sz="2400" dirty="0">
              <a:solidFill>
                <a:srgbClr val="222222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22222"/>
                </a:solidFill>
                <a:latin typeface="Aeonik TRIAL"/>
              </a:rPr>
              <a:t>Fine-tuning started on Common Voice Arabic</a:t>
            </a:r>
            <a:endParaRPr lang="en-US" sz="2400" dirty="0">
              <a:solidFill>
                <a:srgbClr val="222222"/>
              </a:solidFill>
              <a:latin typeface="Aeonik TRIAL"/>
            </a:endParaRPr>
          </a:p>
        </p:txBody>
      </p:sp>
      <p:sp>
        <p:nvSpPr>
          <p:cNvPr id="23" name="T23"/>
          <p:cNvSpPr txBox="1"/>
          <p:nvPr/>
        </p:nvSpPr>
        <p:spPr>
          <a:xfrm>
            <a:off x="12600000" y="8700000"/>
            <a:ext cx="10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888888"/>
                </a:solidFill>
                <a:latin typeface="Aeonik TRIAL"/>
              </a:rPr>
              <a:t>GP2 Planned</a:t>
            </a:r>
            <a:endParaRPr lang="en-US" sz="2400" b="1" dirty="0">
              <a:solidFill>
                <a:srgbClr val="888888"/>
              </a:solidFill>
              <a:latin typeface="Aeonik TRIAL"/>
            </a:endParaRPr>
          </a:p>
        </p:txBody>
      </p:sp>
      <p:sp>
        <p:nvSpPr>
          <p:cNvPr id="24" name="Div24"/>
          <p:cNvSpPr/>
          <p:nvPr/>
        </p:nvSpPr>
        <p:spPr>
          <a:xfrm>
            <a:off x="12600000" y="9200000"/>
            <a:ext cx="10100000" cy="9525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B25"/>
          <p:cNvSpPr txBox="1"/>
          <p:nvPr/>
        </p:nvSpPr>
        <p:spPr>
          <a:xfrm>
            <a:off x="12600000" y="9350000"/>
            <a:ext cx="101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Aeonik TRIAL"/>
              </a:rPr>
              <a:t>Full Flutter mobile app + FastAPI backend</a:t>
            </a:r>
            <a:endParaRPr lang="en-US" sz="2400" dirty="0">
              <a:solidFill>
                <a:srgbClr val="555555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Aeonik TRIAL"/>
              </a:rPr>
              <a:t>MySQL database + AI service integration</a:t>
            </a:r>
            <a:endParaRPr lang="en-US" sz="2400" dirty="0">
              <a:solidFill>
                <a:srgbClr val="555555"/>
              </a:solidFill>
              <a:latin typeface="Aeonik T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5555"/>
                </a:solidFill>
                <a:latin typeface="Aeonik TRIAL"/>
              </a:rPr>
              <a:t>Complete testing, user evaluation, delivery</a:t>
            </a:r>
            <a:endParaRPr lang="en-US" sz="2400" dirty="0">
              <a:solidFill>
                <a:srgbClr val="555555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Prototype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0" name="Bx100"/>
          <p:cNvSpPr/>
          <p:nvPr/>
        </p:nvSpPr>
        <p:spPr>
          <a:xfrm>
            <a:off x="1700000" y="3000000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Child Interface Screens (UI/UX)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01" name="Bx101"/>
          <p:cNvSpPr/>
          <p:nvPr/>
        </p:nvSpPr>
        <p:spPr>
          <a:xfrm>
            <a:off x="1700000" y="3550000"/>
            <a:ext cx="10100000" cy="405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228600" tIns="228600" rIns="228600" bIns="182880" rtlCol="0" anchor="t">
            <a:normAutofit/>
          </a:bodyPr>
          <a:lstStyle/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Home screen + learning map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Lesson screen with audio playback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Pronunciation / recording screen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Result + feedback screen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Badges and rewards screen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10" name="Bx110"/>
          <p:cNvSpPr/>
          <p:nvPr/>
        </p:nvSpPr>
        <p:spPr>
          <a:xfrm>
            <a:off x="12600000" y="3000000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Adult Interface + AI Prototype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1" name="Bx111"/>
          <p:cNvSpPr/>
          <p:nvPr/>
        </p:nvSpPr>
        <p:spPr>
          <a:xfrm>
            <a:off x="12600000" y="3550000"/>
            <a:ext cx="10100000" cy="405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228600" tIns="228600" rIns="228600" bIns="182880" rtlCol="0" anchor="t">
            <a:normAutofit/>
          </a:bodyPr>
          <a:lstStyle/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Dashboard: progress, scores, weak areas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Child profile creation and management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AI: Quran Muaalem adapted (35-class CTC)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Partial testing on Arabic letters and words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Full audio integration planned for GP2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20" name="Bx20"/>
          <p:cNvSpPr/>
          <p:nvPr/>
        </p:nvSpPr>
        <p:spPr>
          <a:xfrm>
            <a:off x="1700000" y="8000000"/>
            <a:ext cx="10100000" cy="11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GP1 Status: UI/UX Design Complete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CADCFC"/>
                </a:solidFill>
                <a:latin typeface="Aeonik TRIAL"/>
              </a:rPr>
              <a:t>Figma prototype ready — awaiting implementation in GP2</a:t>
            </a:r>
            <a:endParaRPr lang="en-US" sz="2000" dirty="0">
              <a:solidFill>
                <a:srgbClr val="CADCFC"/>
              </a:solidFill>
              <a:latin typeface="Aeonik TRIAL"/>
            </a:endParaRPr>
          </a:p>
        </p:txBody>
      </p:sp>
      <p:sp>
        <p:nvSpPr>
          <p:cNvPr id="21" name="Bx21"/>
          <p:cNvSpPr/>
          <p:nvPr/>
        </p:nvSpPr>
        <p:spPr>
          <a:xfrm>
            <a:off x="12600000" y="8000000"/>
            <a:ext cx="10100000" cy="110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AI Prototype: Partially Tested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  <a:p>
            <a:pPr algn="ctr">
              <a:spcBef>
                <a:spcPts val="100"/>
              </a:spcBef>
            </a:pPr>
            <a:r>
              <a:rPr lang="en-US" sz="2000" dirty="0">
                <a:solidFill>
                  <a:srgbClr val="DDDDDD"/>
                </a:solidFill>
                <a:latin typeface="Aeonik TRIAL"/>
              </a:rPr>
              <a:t>Model adapted and fine-tuning in progress</a:t>
            </a:r>
            <a:endParaRPr lang="en-US" sz="2000" dirty="0">
              <a:solidFill>
                <a:srgbClr val="DDDDDD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Evaluation Plan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" name="Bx10"/>
          <p:cNvSpPr/>
          <p:nvPr/>
        </p:nvSpPr>
        <p:spPr>
          <a:xfrm>
            <a:off x="1700000" y="2900000"/>
            <a:ext cx="96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200" b="1" dirty="0">
                <a:solidFill>
                  <a:srgbClr val="FFFFFF"/>
                </a:solidFill>
                <a:latin typeface="Aeonik TRIAL"/>
              </a:rPr>
              <a:t>Metric 1  |  Phoneme Prediction Accuracy</a:t>
            </a:r>
            <a:endParaRPr lang="en-US" sz="22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" name="Bx11"/>
          <p:cNvSpPr/>
          <p:nvPr/>
        </p:nvSpPr>
        <p:spPr>
          <a:xfrm>
            <a:off x="1700000" y="3400000"/>
            <a:ext cx="9600000" cy="15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Predicted phoneme sequence vs. expected from ground truth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20" name="Bx20"/>
          <p:cNvSpPr/>
          <p:nvPr/>
        </p:nvSpPr>
        <p:spPr>
          <a:xfrm>
            <a:off x="11700000" y="2900000"/>
            <a:ext cx="96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200" b="1" dirty="0">
                <a:solidFill>
                  <a:srgbClr val="FFFFFF"/>
                </a:solidFill>
                <a:latin typeface="Aeonik TRIAL"/>
              </a:rPr>
              <a:t>Metric 2  |  Classification Accuracy</a:t>
            </a:r>
            <a:endParaRPr lang="en-US" sz="22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21" name="Bx21"/>
          <p:cNvSpPr/>
          <p:nvPr/>
        </p:nvSpPr>
        <p:spPr>
          <a:xfrm>
            <a:off x="11700000" y="3400000"/>
            <a:ext cx="9600000" cy="15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Correct / incorrect result across letters, words, sentences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30" name="Bx30"/>
          <p:cNvSpPr/>
          <p:nvPr/>
        </p:nvSpPr>
        <p:spPr>
          <a:xfrm>
            <a:off x="1700000" y="5300000"/>
            <a:ext cx="96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200" b="1" dirty="0">
                <a:solidFill>
                  <a:srgbClr val="FFFFFF"/>
                </a:solidFill>
                <a:latin typeface="Aeonik TRIAL"/>
              </a:rPr>
              <a:t>Metric 3  |  Confidence Score Reliability</a:t>
            </a:r>
            <a:endParaRPr lang="en-US" sz="22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31" name="Bx31"/>
          <p:cNvSpPr/>
          <p:nvPr/>
        </p:nvSpPr>
        <p:spPr>
          <a:xfrm>
            <a:off x="1700000" y="5800000"/>
            <a:ext cx="9600000" cy="15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Does score support reliable borderline decisions?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40" name="Bx40"/>
          <p:cNvSpPr/>
          <p:nvPr/>
        </p:nvSpPr>
        <p:spPr>
          <a:xfrm>
            <a:off x="11700000" y="5300000"/>
            <a:ext cx="96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200" b="1" dirty="0">
                <a:solidFill>
                  <a:srgbClr val="FFFFFF"/>
                </a:solidFill>
                <a:latin typeface="Aeonik TRIAL"/>
              </a:rPr>
              <a:t>Metric 4  |  AI Response Time</a:t>
            </a:r>
            <a:endParaRPr lang="en-US" sz="22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41" name="Bx41"/>
          <p:cNvSpPr/>
          <p:nvPr/>
        </p:nvSpPr>
        <p:spPr>
          <a:xfrm>
            <a:off x="11700000" y="5800000"/>
            <a:ext cx="9600000" cy="15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Target: under 2 seconds per evaluation attempt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50" name="Bx50"/>
          <p:cNvSpPr/>
          <p:nvPr/>
        </p:nvSpPr>
        <p:spPr>
          <a:xfrm>
            <a:off x="7392000" y="7700000"/>
            <a:ext cx="9600000" cy="5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200" b="1" dirty="0">
                <a:solidFill>
                  <a:srgbClr val="FFFFFF"/>
                </a:solidFill>
                <a:latin typeface="Aeonik TRIAL"/>
              </a:rPr>
              <a:t>Metric 5  |  Error Analysis</a:t>
            </a:r>
            <a:endParaRPr lang="en-US" sz="22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51" name="Bx51"/>
          <p:cNvSpPr/>
          <p:nvPr/>
        </p:nvSpPr>
        <p:spPr>
          <a:xfrm>
            <a:off x="7392000" y="8200000"/>
            <a:ext cx="9600000" cy="1500000"/>
          </a:xfrm>
          <a:prstGeom prst="rect">
            <a:avLst/>
          </a:prstGeom>
          <a:solidFill>
            <a:srgbClr val="F7F8FC"/>
          </a:solidFill>
          <a:ln w="9525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Types of errors: similar sounds, tashkeel, noise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90" name="Bx90"/>
          <p:cNvSpPr/>
          <p:nvPr/>
        </p:nvSpPr>
        <p:spPr>
          <a:xfrm>
            <a:off x="1700000" y="9982320"/>
            <a:ext cx="21000000" cy="900000"/>
          </a:xfrm>
          <a:prstGeom prst="rect">
            <a:avLst/>
          </a:prstGeom>
          <a:solidFill>
            <a:srgbClr val="F0F0F0"/>
          </a:solidFill>
          <a:ln w="1905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dirty="0">
                <a:solidFill>
                  <a:srgbClr val="444444"/>
                </a:solidFill>
                <a:latin typeface="Aeonik TRIAL"/>
              </a:rPr>
              <a:t>User Evaluation (GP2): usability testing with children and adults across varied speakers, speeds, and audio qualities</a:t>
            </a:r>
            <a:endParaRPr lang="en-US" sz="2400" dirty="0">
              <a:solidFill>
                <a:srgbClr val="444444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"/>
          <p:cNvSpPr>
            <a:spLocks noGrp="1"/>
          </p:cNvSpPr>
          <p:nvPr>
            <p:ph type="title"/>
          </p:nvPr>
        </p:nvSpPr>
        <p:spPr>
          <a:xfrm>
            <a:off x="1676400" y="1700000"/>
            <a:ext cx="21031200" cy="1200000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400" b="1" dirty="0">
                <a:solidFill>
                  <a:srgbClr val="002060"/>
                </a:solidFill>
              </a:rPr>
              <a:t>Conclusion and Future Work</a:t>
            </a:r>
            <a:endParaRPr lang="en-US" sz="6400" b="1" dirty="0">
              <a:solidFill>
                <a:srgbClr val="002060"/>
              </a:solidFill>
            </a:endParaRPr>
          </a:p>
        </p:txBody>
      </p:sp>
      <p:sp>
        <p:nvSpPr>
          <p:cNvPr id="100" name="Bx100"/>
          <p:cNvSpPr/>
          <p:nvPr/>
        </p:nvSpPr>
        <p:spPr>
          <a:xfrm>
            <a:off x="1700000" y="3000000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GP1 Contributions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01" name="Bx101"/>
          <p:cNvSpPr/>
          <p:nvPr/>
        </p:nvSpPr>
        <p:spPr>
          <a:xfrm>
            <a:off x="1700000" y="3550000"/>
            <a:ext cx="10100000" cy="365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228600" tIns="228600" rIns="228600" bIns="182880" rtlCol="0" anchor="t">
            <a:normAutofit/>
          </a:bodyPr>
          <a:lstStyle/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Problem validated via 68-respondent survey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Requirements defined: functional + non-functional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UI/UX design prototype completed (child + adult)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System architecture designed (5-layer modular)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Quran Muaalem adapted: CTC 43 to 35 for MSA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110" name="Bx110"/>
          <p:cNvSpPr/>
          <p:nvPr/>
        </p:nvSpPr>
        <p:spPr>
          <a:xfrm>
            <a:off x="12600000" y="3000000"/>
            <a:ext cx="10100000" cy="55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2400" b="1" dirty="0">
                <a:solidFill>
                  <a:srgbClr val="FFFFFF"/>
                </a:solidFill>
                <a:latin typeface="Aeonik TRIAL"/>
              </a:rPr>
              <a:t>GP2 Roadmap</a:t>
            </a:r>
            <a:endParaRPr lang="en-US" sz="2400" b="1" dirty="0">
              <a:solidFill>
                <a:srgbClr val="FFFFFF"/>
              </a:solidFill>
              <a:latin typeface="Aeonik TRIAL"/>
            </a:endParaRPr>
          </a:p>
        </p:txBody>
      </p:sp>
      <p:sp>
        <p:nvSpPr>
          <p:cNvPr id="111" name="Bx111"/>
          <p:cNvSpPr/>
          <p:nvPr/>
        </p:nvSpPr>
        <p:spPr>
          <a:xfrm>
            <a:off x="12600000" y="3550000"/>
            <a:ext cx="10100000" cy="3650000"/>
          </a:xfrm>
          <a:prstGeom prst="rect">
            <a:avLst/>
          </a:prstGeom>
          <a:solidFill>
            <a:srgbClr val="F7F8FC"/>
          </a:solidFill>
          <a:ln w="12700">
            <a:solidFill>
              <a:srgbClr val="CCCCCC"/>
            </a:solidFill>
          </a:ln>
        </p:spPr>
        <p:txBody>
          <a:bodyPr vert="horz" lIns="228600" tIns="228600" rIns="228600" bIns="182880" rtlCol="0" anchor="t">
            <a:normAutofit/>
          </a:bodyPr>
          <a:lstStyle/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Full Flutter app + FastAPI backend + MySQL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Complete AI service integration + end-to-end testing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Model improvement: tashkeel-rich data + child samples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Usability evaluation with real users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333333"/>
                </a:solidFill>
                <a:latin typeface="Aeonik TRIAL"/>
              </a:rPr>
              <a:t>Delivery: December 2026</a:t>
            </a:r>
            <a:endParaRPr lang="en-US" sz="2400" dirty="0">
              <a:solidFill>
                <a:srgbClr val="333333"/>
              </a:solidFill>
              <a:latin typeface="Aeonik TRIAL"/>
            </a:endParaRPr>
          </a:p>
        </p:txBody>
      </p:sp>
      <p:sp>
        <p:nvSpPr>
          <p:cNvPr id="20" name="Bx20"/>
          <p:cNvSpPr/>
          <p:nvPr/>
        </p:nvSpPr>
        <p:spPr>
          <a:xfrm>
            <a:off x="1700000" y="7600000"/>
            <a:ext cx="21000000" cy="1500000"/>
          </a:xfrm>
          <a:prstGeom prst="rect">
            <a:avLst/>
          </a:prstGeom>
          <a:solidFill>
            <a:srgbClr val="F7F8FC"/>
          </a:solidFill>
          <a:ln w="19050">
            <a:solidFill>
              <a:srgbClr val="CCCCCC"/>
            </a:solidFill>
          </a:ln>
        </p:spPr>
        <p:txBody>
          <a:bodyPr vert="horz" lIns="91440" tIns="91440" rIns="91440" bIns="91440" rtlCol="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800" b="1" dirty="0">
                <a:solidFill>
                  <a:srgbClr val="002060"/>
                </a:solidFill>
                <a:latin typeface="Aeonik TRIAL"/>
              </a:rPr>
              <a:t>Long-Term Vision</a:t>
            </a:r>
            <a:endParaRPr lang="en-US" sz="2800" b="1" dirty="0">
              <a:solidFill>
                <a:srgbClr val="002060"/>
              </a:solidFill>
              <a:latin typeface="Aeonik TRIAL"/>
            </a:endParaRPr>
          </a:p>
          <a:p>
            <a:pPr algn="l">
              <a:spcBef>
                <a:spcPts val="200"/>
              </a:spcBef>
              <a:spcAft>
                <a:spcPts val="280"/>
              </a:spcAft>
              <a:buChar char="•"/>
            </a:pPr>
            <a:r>
              <a:rPr lang="en-US" sz="2400" dirty="0">
                <a:solidFill>
                  <a:srgbClr val="444444"/>
                </a:solidFill>
                <a:latin typeface="Aeonik TRIAL"/>
              </a:rPr>
              <a:t>Adaptive learning path  |  AI voice companion  |  Teacher dashboard  |  Dialect support  |  Web version</a:t>
            </a:r>
            <a:endParaRPr lang="en-US" sz="2400" dirty="0">
              <a:solidFill>
                <a:srgbClr val="444444"/>
              </a:solidFill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676400" y="1747294"/>
            <a:ext cx="21031200" cy="1749872"/>
          </a:xfrm>
        </p:spPr>
        <p:txBody>
          <a:bodyPr vert="horz" lIns="182880" tIns="91440" rIns="182880" bIns="91440" rtlCol="0" anchor="ctr">
            <a:norm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US" altLang="en-US" sz="6400" dirty="0">
                <a:solidFill>
                  <a:srgbClr val="002060"/>
                </a:solidFill>
              </a:rPr>
              <a:t>References</a:t>
            </a:r>
            <a:endParaRPr lang="en-US" altLang="en-US" sz="64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30057" y="3497166"/>
            <a:ext cx="1962589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Aeonik TRIAL"/>
              </a:rPr>
              <a:t>[1] Graves et al. (2006). CTC: Labelling Unsegmented Sequence Data. ICML.</a:t>
            </a:r>
            <a:endParaRPr lang="en-US" altLang="en-US" sz="3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Aeonik TRIAL"/>
              </a:rPr>
              <a:t>[2] Baevski et al. (2020). wav2vec 2.0: Self-Supervised Speech Representations. NeurIPS.</a:t>
            </a:r>
            <a:endParaRPr lang="en-US" altLang="en-US" sz="3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Aeonik TRIAL"/>
              </a:rPr>
              <a:t>[3] Chung et al. (2021). W2v-BERT: Contrastive + Masked Language Modeling.</a:t>
            </a:r>
            <a:endParaRPr lang="en-US" altLang="en-US" sz="3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Aeonik TRIAL"/>
              </a:rPr>
              <a:t>[4] Radford et al. (2023). Robust Speech Recognition via Large-Scale Weak Supervision. ICML.</a:t>
            </a:r>
            <a:endParaRPr lang="en-US" altLang="en-US" sz="3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Aeonik TRIAL"/>
              </a:rPr>
              <a:t>[5] obadx. Quran Muaalem / muaalem-model-v3_2. GitHub / Hugging Face. June 2026.</a:t>
            </a:r>
            <a:endParaRPr lang="en-US" altLang="en-US" sz="3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Aeonik TRIAL"/>
              </a:rPr>
              <a:t>[6] nawarhalabi. Arabic-Phonetiser. GitHub Repository. Accessed June 2026.</a:t>
            </a:r>
            <a:endParaRPr lang="en-US" altLang="en-US" sz="3600" dirty="0">
              <a:latin typeface="Aeonik TRIAL"/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Aeonik TRIAL"/>
              </a:rPr>
              <a:t>[7] Mozilla Common Voice. Arabic Speech Dataset. Mozilla Data Collective. June 2026.</a:t>
            </a:r>
            <a:endParaRPr lang="en-US" altLang="en-US" sz="3600" dirty="0">
              <a:latin typeface="Aeonik TRIAL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1664" y="4549676"/>
            <a:ext cx="23172576" cy="2751522"/>
          </a:xfr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6400" dirty="0">
                <a:solidFill>
                  <a:srgbClr val="000099"/>
                </a:solidFill>
                <a:ea typeface="+mn-ea"/>
                <a:cs typeface="+mn-cs"/>
              </a:rPr>
              <a:t>Thank you</a:t>
            </a:r>
            <a:br>
              <a:rPr lang="en-US" sz="6400" dirty="0">
                <a:solidFill>
                  <a:srgbClr val="000099"/>
                </a:solidFill>
                <a:ea typeface="+mn-ea"/>
                <a:cs typeface="+mn-cs"/>
              </a:rPr>
            </a:br>
            <a:br>
              <a:rPr lang="en-US" sz="6400" dirty="0">
                <a:solidFill>
                  <a:srgbClr val="000099"/>
                </a:solidFill>
                <a:ea typeface="+mn-ea"/>
                <a:cs typeface="+mn-cs"/>
              </a:rPr>
            </a:br>
            <a:r>
              <a:rPr lang="en-US" sz="6400" dirty="0">
                <a:solidFill>
                  <a:srgbClr val="000099"/>
                </a:solidFill>
                <a:ea typeface="+mn-ea"/>
                <a:cs typeface="+mn-cs"/>
              </a:rPr>
              <a:t>Questions?</a:t>
            </a:r>
            <a:endParaRPr lang="en-US" sz="6400" dirty="0">
              <a:solidFill>
                <a:srgbClr val="000099"/>
              </a:solidFill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9052</Words>
  <Application>WPS Presentation</Application>
  <PresentationFormat>Custom</PresentationFormat>
  <Paragraphs>486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Aeonik TRIAL</vt:lpstr>
      <vt:lpstr>C059</vt:lpstr>
      <vt:lpstr>Times New Roman</vt:lpstr>
      <vt:lpstr>Microsoft YaHei</vt:lpstr>
      <vt:lpstr>文泉驿正黑</vt:lpstr>
      <vt:lpstr>Arial Unicode MS</vt:lpstr>
      <vt:lpstr>Calibri Light</vt:lpstr>
      <vt:lpstr>Calibri</vt:lpstr>
      <vt:lpstr>Calibri</vt:lpstr>
      <vt:lpstr>Office Theme</vt:lpstr>
      <vt:lpstr>PowerPoint 演示文稿</vt:lpstr>
      <vt:lpstr>Outline</vt:lpstr>
      <vt:lpstr>Introduction and Motivation</vt:lpstr>
      <vt:lpstr>Background</vt:lpstr>
      <vt:lpstr>Problem</vt:lpstr>
      <vt:lpstr>Literature Review</vt:lpstr>
      <vt:lpstr>Available Solutions</vt:lpstr>
      <vt:lpstr>Proposed Solution</vt:lpstr>
      <vt:lpstr>User Analysis</vt:lpstr>
      <vt:lpstr>Requirements</vt:lpstr>
      <vt:lpstr>Methodology</vt:lpstr>
      <vt:lpstr>System Design</vt:lpstr>
      <vt:lpstr>Available Datasets</vt:lpstr>
      <vt:lpstr>AI Model: Quran Muaalem Adaptation</vt:lpstr>
      <vt:lpstr>Implementation</vt:lpstr>
      <vt:lpstr>Prototype</vt:lpstr>
      <vt:lpstr>Evaluation Plan</vt:lpstr>
      <vt:lpstr>Conclusion and Future Work</vt:lpstr>
      <vt:lpstr>References</vt:lpstr>
      <vt:lpstr>Thank you  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MainTitle</dc:title>
  <dc:creator>ibrahem eldafrawy</dc:creator>
  <cp:lastModifiedBy>loloky</cp:lastModifiedBy>
  <cp:revision>54</cp:revision>
  <dcterms:created xsi:type="dcterms:W3CDTF">2026-06-13T17:08:08Z</dcterms:created>
  <dcterms:modified xsi:type="dcterms:W3CDTF">2026-06-13T17:08:08Z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